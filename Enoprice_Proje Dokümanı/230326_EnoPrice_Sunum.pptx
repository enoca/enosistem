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5" r:id="rId4"/>
    <p:sldId id="270" r:id="rId5"/>
    <p:sldId id="266" r:id="rId6"/>
    <p:sldId id="268" r:id="rId7"/>
    <p:sldId id="269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58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.sv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svg"/><Relationship Id="rId7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svg"/><Relationship Id="rId7" Type="http://schemas.microsoft.com/office/2007/relationships/hdphoto" Target="../media/hdphoto3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microsoft.com/office/2007/relationships/hdphoto" Target="../media/hdphoto2.wdp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3">
            <a:extLst>
              <a:ext uri="{FF2B5EF4-FFF2-40B4-BE49-F238E27FC236}">
                <a16:creationId xmlns:a16="http://schemas.microsoft.com/office/drawing/2014/main" id="{7049681F-1E05-B7DC-152C-CBDD5EC6CCAA}"/>
              </a:ext>
            </a:extLst>
          </p:cNvPr>
          <p:cNvSpPr/>
          <p:nvPr/>
        </p:nvSpPr>
        <p:spPr>
          <a:xfrm>
            <a:off x="335192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bg1">
              <a:alpha val="19999"/>
            </a:schemeClr>
          </a:solidFill>
          <a:ln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FEB5439-9721-F79A-D66E-46FE4DE71EBE}"/>
              </a:ext>
            </a:extLst>
          </p:cNvPr>
          <p:cNvSpPr/>
          <p:nvPr/>
        </p:nvSpPr>
        <p:spPr>
          <a:xfrm>
            <a:off x="670079" y="-24116"/>
            <a:ext cx="1530693" cy="2620727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3EB77A1-2704-0D72-6682-4B05A353794F}"/>
              </a:ext>
            </a:extLst>
          </p:cNvPr>
          <p:cNvSpPr>
            <a:spLocks noChangeAspect="1"/>
          </p:cNvSpPr>
          <p:nvPr/>
        </p:nvSpPr>
        <p:spPr>
          <a:xfrm>
            <a:off x="925163" y="375828"/>
            <a:ext cx="1610496" cy="287111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35" name="Grup 34">
            <a:extLst>
              <a:ext uri="{FF2B5EF4-FFF2-40B4-BE49-F238E27FC236}">
                <a16:creationId xmlns:a16="http://schemas.microsoft.com/office/drawing/2014/main" id="{64A411B7-D5FB-B31D-993E-B679AE695C74}"/>
              </a:ext>
            </a:extLst>
          </p:cNvPr>
          <p:cNvGrpSpPr/>
          <p:nvPr/>
        </p:nvGrpSpPr>
        <p:grpSpPr>
          <a:xfrm rot="10800000">
            <a:off x="10057842" y="4237273"/>
            <a:ext cx="1865580" cy="2620727"/>
            <a:chOff x="9552195" y="3879917"/>
            <a:chExt cx="1865580" cy="2620727"/>
          </a:xfrm>
        </p:grpSpPr>
        <p:sp>
          <p:nvSpPr>
            <p:cNvPr id="33" name="object 3">
              <a:extLst>
                <a:ext uri="{FF2B5EF4-FFF2-40B4-BE49-F238E27FC236}">
                  <a16:creationId xmlns:a16="http://schemas.microsoft.com/office/drawing/2014/main" id="{429BB10E-44D7-1120-415C-18DACBFF1F71}"/>
                </a:ext>
              </a:extLst>
            </p:cNvPr>
            <p:cNvSpPr/>
            <p:nvPr/>
          </p:nvSpPr>
          <p:spPr>
            <a:xfrm>
              <a:off x="9552195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chemeClr val="bg1">
                <a:alpha val="19999"/>
              </a:schemeClr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">
              <a:extLst>
                <a:ext uri="{FF2B5EF4-FFF2-40B4-BE49-F238E27FC236}">
                  <a16:creationId xmlns:a16="http://schemas.microsoft.com/office/drawing/2014/main" id="{928CE924-ED2A-AF6F-CDE5-1C08DF79DBEE}"/>
                </a:ext>
              </a:extLst>
            </p:cNvPr>
            <p:cNvSpPr/>
            <p:nvPr/>
          </p:nvSpPr>
          <p:spPr>
            <a:xfrm>
              <a:off x="9887082" y="3879917"/>
              <a:ext cx="1530693" cy="2620727"/>
            </a:xfrm>
            <a:custGeom>
              <a:avLst/>
              <a:gdLst/>
              <a:ahLst/>
              <a:cxnLst/>
              <a:rect l="l" t="t" r="r" b="b"/>
              <a:pathLst>
                <a:path w="1755775" h="3842385">
                  <a:moveTo>
                    <a:pt x="1755433" y="0"/>
                  </a:moveTo>
                  <a:lnTo>
                    <a:pt x="0" y="0"/>
                  </a:lnTo>
                  <a:lnTo>
                    <a:pt x="1" y="2964216"/>
                  </a:lnTo>
                  <a:lnTo>
                    <a:pt x="1298" y="3012375"/>
                  </a:lnTo>
                  <a:lnTo>
                    <a:pt x="5150" y="3059855"/>
                  </a:lnTo>
                  <a:lnTo>
                    <a:pt x="11487" y="3106589"/>
                  </a:lnTo>
                  <a:lnTo>
                    <a:pt x="20244" y="3152510"/>
                  </a:lnTo>
                  <a:lnTo>
                    <a:pt x="31353" y="3197552"/>
                  </a:lnTo>
                  <a:lnTo>
                    <a:pt x="44747" y="3241647"/>
                  </a:lnTo>
                  <a:lnTo>
                    <a:pt x="60359" y="3284729"/>
                  </a:lnTo>
                  <a:lnTo>
                    <a:pt x="78122" y="3326730"/>
                  </a:lnTo>
                  <a:lnTo>
                    <a:pt x="97969" y="3367583"/>
                  </a:lnTo>
                  <a:lnTo>
                    <a:pt x="119834" y="3407223"/>
                  </a:lnTo>
                  <a:lnTo>
                    <a:pt x="143650" y="3445581"/>
                  </a:lnTo>
                  <a:lnTo>
                    <a:pt x="169349" y="3482591"/>
                  </a:lnTo>
                  <a:lnTo>
                    <a:pt x="196865" y="3518185"/>
                  </a:lnTo>
                  <a:lnTo>
                    <a:pt x="226130" y="3552298"/>
                  </a:lnTo>
                  <a:lnTo>
                    <a:pt x="257078" y="3584862"/>
                  </a:lnTo>
                  <a:lnTo>
                    <a:pt x="289642" y="3615810"/>
                  </a:lnTo>
                  <a:lnTo>
                    <a:pt x="323755" y="3645075"/>
                  </a:lnTo>
                  <a:lnTo>
                    <a:pt x="359349" y="3672591"/>
                  </a:lnTo>
                  <a:lnTo>
                    <a:pt x="396359" y="3698290"/>
                  </a:lnTo>
                  <a:lnTo>
                    <a:pt x="434717" y="3722105"/>
                  </a:lnTo>
                  <a:lnTo>
                    <a:pt x="474355" y="3743970"/>
                  </a:lnTo>
                  <a:lnTo>
                    <a:pt x="515208" y="3763817"/>
                  </a:lnTo>
                  <a:lnTo>
                    <a:pt x="557209" y="3781580"/>
                  </a:lnTo>
                  <a:lnTo>
                    <a:pt x="600289" y="3797192"/>
                  </a:lnTo>
                  <a:lnTo>
                    <a:pt x="644383" y="3810585"/>
                  </a:lnTo>
                  <a:lnTo>
                    <a:pt x="689424" y="3821694"/>
                  </a:lnTo>
                  <a:lnTo>
                    <a:pt x="735343" y="3830450"/>
                  </a:lnTo>
                  <a:lnTo>
                    <a:pt x="782076" y="3836788"/>
                  </a:lnTo>
                  <a:lnTo>
                    <a:pt x="829554" y="3840639"/>
                  </a:lnTo>
                  <a:lnTo>
                    <a:pt x="877711" y="3841935"/>
                  </a:lnTo>
                  <a:lnTo>
                    <a:pt x="925869" y="3840639"/>
                  </a:lnTo>
                  <a:lnTo>
                    <a:pt x="973348" y="3836788"/>
                  </a:lnTo>
                  <a:lnTo>
                    <a:pt x="1020081" y="3830450"/>
                  </a:lnTo>
                  <a:lnTo>
                    <a:pt x="1066002" y="3821694"/>
                  </a:lnTo>
                  <a:lnTo>
                    <a:pt x="1111043" y="3810585"/>
                  </a:lnTo>
                  <a:lnTo>
                    <a:pt x="1155138" y="3797192"/>
                  </a:lnTo>
                  <a:lnTo>
                    <a:pt x="1198219" y="3781580"/>
                  </a:lnTo>
                  <a:lnTo>
                    <a:pt x="1240220" y="3763817"/>
                  </a:lnTo>
                  <a:lnTo>
                    <a:pt x="1281074" y="3743970"/>
                  </a:lnTo>
                  <a:lnTo>
                    <a:pt x="1320713" y="3722105"/>
                  </a:lnTo>
                  <a:lnTo>
                    <a:pt x="1359071" y="3698290"/>
                  </a:lnTo>
                  <a:lnTo>
                    <a:pt x="1396081" y="3672591"/>
                  </a:lnTo>
                  <a:lnTo>
                    <a:pt x="1431676" y="3645075"/>
                  </a:lnTo>
                  <a:lnTo>
                    <a:pt x="1465789" y="3615810"/>
                  </a:lnTo>
                  <a:lnTo>
                    <a:pt x="1498353" y="3584862"/>
                  </a:lnTo>
                  <a:lnTo>
                    <a:pt x="1529301" y="3552298"/>
                  </a:lnTo>
                  <a:lnTo>
                    <a:pt x="1558567" y="3518185"/>
                  </a:lnTo>
                  <a:lnTo>
                    <a:pt x="1586083" y="3482591"/>
                  </a:lnTo>
                  <a:lnTo>
                    <a:pt x="1611782" y="3445581"/>
                  </a:lnTo>
                  <a:lnTo>
                    <a:pt x="1635598" y="3407223"/>
                  </a:lnTo>
                  <a:lnTo>
                    <a:pt x="1657463" y="3367583"/>
                  </a:lnTo>
                  <a:lnTo>
                    <a:pt x="1677310" y="3326730"/>
                  </a:lnTo>
                  <a:lnTo>
                    <a:pt x="1695074" y="3284729"/>
                  </a:lnTo>
                  <a:lnTo>
                    <a:pt x="1710686" y="3241647"/>
                  </a:lnTo>
                  <a:lnTo>
                    <a:pt x="1724080" y="3197552"/>
                  </a:lnTo>
                  <a:lnTo>
                    <a:pt x="1735188" y="3152510"/>
                  </a:lnTo>
                  <a:lnTo>
                    <a:pt x="1743945" y="3106589"/>
                  </a:lnTo>
                  <a:lnTo>
                    <a:pt x="1750283" y="3059855"/>
                  </a:lnTo>
                  <a:lnTo>
                    <a:pt x="1754134" y="3012375"/>
                  </a:lnTo>
                  <a:lnTo>
                    <a:pt x="1755434" y="2964216"/>
                  </a:lnTo>
                  <a:lnTo>
                    <a:pt x="1755433" y="0"/>
                  </a:lnTo>
                  <a:close/>
                </a:path>
              </a:pathLst>
            </a:custGeom>
            <a:solidFill>
              <a:srgbClr val="B6CA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2B788498-DADD-A5FB-4175-7DB7C3441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1742" y="1860935"/>
            <a:ext cx="3676142" cy="11326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749294-E57D-A95A-7D54-0DA1A02D4848}"/>
              </a:ext>
            </a:extLst>
          </p:cNvPr>
          <p:cNvSpPr/>
          <p:nvPr/>
        </p:nvSpPr>
        <p:spPr>
          <a:xfrm>
            <a:off x="5486262" y="3107230"/>
            <a:ext cx="1219169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61B7ECC4-A67C-961F-7B13-E7C56FA07BC8}"/>
              </a:ext>
            </a:extLst>
          </p:cNvPr>
          <p:cNvSpPr txBox="1"/>
          <p:nvPr/>
        </p:nvSpPr>
        <p:spPr>
          <a:xfrm>
            <a:off x="3493243" y="3316216"/>
            <a:ext cx="5205207" cy="3964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Aft>
                <a:spcPts val="1560"/>
              </a:spcAft>
            </a:pP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AI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Destekli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Dinamik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Fiyatlandırma</a:t>
            </a:r>
            <a:r>
              <a:rPr sz="1794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 </a:t>
            </a:r>
            <a:r>
              <a:rPr sz="1794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/>
              </a:rPr>
              <a:t>Çözümü</a:t>
            </a:r>
            <a:endParaRPr sz="1794" b="1" dirty="0">
              <a:solidFill>
                <a:schemeClr val="tx1">
                  <a:lumMod val="50000"/>
                  <a:lumOff val="50000"/>
                </a:schemeClr>
              </a:solidFill>
              <a:latin typeface="Poppins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AA97FE3D-502C-834C-4804-85BE87DB9356}"/>
              </a:ext>
            </a:extLst>
          </p:cNvPr>
          <p:cNvSpPr txBox="1"/>
          <p:nvPr/>
        </p:nvSpPr>
        <p:spPr>
          <a:xfrm>
            <a:off x="4064492" y="3845897"/>
            <a:ext cx="4062715" cy="4038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3120"/>
              </a:spcAft>
            </a:pPr>
            <a:r>
              <a:rPr sz="1554" dirty="0">
                <a:solidFill>
                  <a:srgbClr val="555555"/>
                </a:solidFill>
                <a:latin typeface="Inter"/>
              </a:rPr>
              <a:t>E-Ticaret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İşletmeleri</a:t>
            </a:r>
            <a:r>
              <a:rPr sz="1554" dirty="0">
                <a:solidFill>
                  <a:srgbClr val="555555"/>
                </a:solidFill>
                <a:latin typeface="Inter"/>
              </a:rPr>
              <a:t> </a:t>
            </a:r>
            <a:r>
              <a:rPr sz="1554" dirty="0" err="1">
                <a:solidFill>
                  <a:srgbClr val="555555"/>
                </a:solidFill>
                <a:latin typeface="Inter"/>
              </a:rPr>
              <a:t>İçin</a:t>
            </a:r>
            <a:r>
              <a:rPr sz="1554" dirty="0">
                <a:solidFill>
                  <a:srgbClr val="555555"/>
                </a:solidFill>
                <a:latin typeface="Inter"/>
              </a:rPr>
              <a:t> </a:t>
            </a:r>
            <a:r>
              <a:rPr lang="tr-TR" sz="1554" dirty="0">
                <a:solidFill>
                  <a:srgbClr val="555555"/>
                </a:solidFill>
                <a:latin typeface="Inter"/>
              </a:rPr>
              <a:t>Akıllı Fiyatlama Çözümü</a:t>
            </a:r>
            <a:endParaRPr sz="1554" dirty="0">
              <a:solidFill>
                <a:srgbClr val="555555"/>
              </a:solidFill>
              <a:latin typeface="Inter"/>
            </a:endParaRPr>
          </a:p>
        </p:txBody>
      </p:sp>
      <p:pic>
        <p:nvPicPr>
          <p:cNvPr id="15" name="Picture 6" descr="image.png">
            <a:extLst>
              <a:ext uri="{FF2B5EF4-FFF2-40B4-BE49-F238E27FC236}">
                <a16:creationId xmlns:a16="http://schemas.microsoft.com/office/drawing/2014/main" id="{675C681C-41B0-9EF8-E102-DC094BC6250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281" y="4727689"/>
            <a:ext cx="380990" cy="202406"/>
          </a:xfrm>
          <a:prstGeom prst="rect">
            <a:avLst/>
          </a:prstGeom>
        </p:spPr>
      </p:pic>
      <p:sp>
        <p:nvSpPr>
          <p:cNvPr id="17" name="TextBox 7">
            <a:extLst>
              <a:ext uri="{FF2B5EF4-FFF2-40B4-BE49-F238E27FC236}">
                <a16:creationId xmlns:a16="http://schemas.microsoft.com/office/drawing/2014/main" id="{C1B847E1-FAAE-E9CF-6110-E9A3DC1F91EC}"/>
              </a:ext>
            </a:extLst>
          </p:cNvPr>
          <p:cNvSpPr txBox="1"/>
          <p:nvPr/>
        </p:nvSpPr>
        <p:spPr>
          <a:xfrm>
            <a:off x="4302254" y="5057888"/>
            <a:ext cx="1234569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837" dirty="0">
                <a:solidFill>
                  <a:schemeClr val="accent1"/>
                </a:solidFill>
                <a:latin typeface="Poppins"/>
              </a:rPr>
              <a:t>Kar </a:t>
            </a:r>
            <a:r>
              <a:rPr sz="837" dirty="0" err="1">
                <a:solidFill>
                  <a:schemeClr val="accent1"/>
                </a:solidFill>
                <a:latin typeface="Poppins"/>
              </a:rPr>
              <a:t>Maksimizasyonu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pic>
        <p:nvPicPr>
          <p:cNvPr id="19" name="Picture 8" descr="image.png">
            <a:extLst>
              <a:ext uri="{FF2B5EF4-FFF2-40B4-BE49-F238E27FC236}">
                <a16:creationId xmlns:a16="http://schemas.microsoft.com/office/drawing/2014/main" id="{E4F3ECA2-C2B9-FF4E-2D52-0BD144093C9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7273" y="4683041"/>
            <a:ext cx="380990" cy="291703"/>
          </a:xfrm>
          <a:prstGeom prst="rect">
            <a:avLst/>
          </a:prstGeom>
        </p:spPr>
      </p:pic>
      <p:sp>
        <p:nvSpPr>
          <p:cNvPr id="24" name="TextBox 9">
            <a:extLst>
              <a:ext uri="{FF2B5EF4-FFF2-40B4-BE49-F238E27FC236}">
                <a16:creationId xmlns:a16="http://schemas.microsoft.com/office/drawing/2014/main" id="{6976AA58-FD46-5FC4-1A1D-D9F153A5022D}"/>
              </a:ext>
            </a:extLst>
          </p:cNvPr>
          <p:cNvSpPr txBox="1"/>
          <p:nvPr/>
        </p:nvSpPr>
        <p:spPr>
          <a:xfrm>
            <a:off x="5915398" y="5057888"/>
            <a:ext cx="684739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837" dirty="0">
                <a:solidFill>
                  <a:schemeClr val="accent1"/>
                </a:solidFill>
                <a:latin typeface="Poppins"/>
              </a:rPr>
              <a:t>AI </a:t>
            </a:r>
            <a:r>
              <a:rPr sz="837" dirty="0" err="1">
                <a:solidFill>
                  <a:schemeClr val="accent1"/>
                </a:solidFill>
                <a:latin typeface="Poppins"/>
              </a:rPr>
              <a:t>Destekli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  <p:pic>
        <p:nvPicPr>
          <p:cNvPr id="26" name="Picture 10" descr="image.png">
            <a:extLst>
              <a:ext uri="{FF2B5EF4-FFF2-40B4-BE49-F238E27FC236}">
                <a16:creationId xmlns:a16="http://schemas.microsoft.com/office/drawing/2014/main" id="{E11F2847-5C4A-869C-E9AF-96807EA09D5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8343" y="4696435"/>
            <a:ext cx="380990" cy="264914"/>
          </a:xfrm>
          <a:prstGeom prst="rect">
            <a:avLst/>
          </a:prstGeom>
        </p:spPr>
      </p:pic>
      <p:sp>
        <p:nvSpPr>
          <p:cNvPr id="27" name="TextBox 11">
            <a:extLst>
              <a:ext uri="{FF2B5EF4-FFF2-40B4-BE49-F238E27FC236}">
                <a16:creationId xmlns:a16="http://schemas.microsoft.com/office/drawing/2014/main" id="{25E7ECC9-584A-35B7-5985-0D824DD837D9}"/>
              </a:ext>
            </a:extLst>
          </p:cNvPr>
          <p:cNvSpPr txBox="1"/>
          <p:nvPr/>
        </p:nvSpPr>
        <p:spPr>
          <a:xfrm>
            <a:off x="6940223" y="5057888"/>
            <a:ext cx="987706" cy="26590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</a:pPr>
            <a:r>
              <a:rPr sz="837" dirty="0" err="1">
                <a:solidFill>
                  <a:schemeClr val="accent1"/>
                </a:solidFill>
                <a:latin typeface="Poppins"/>
              </a:rPr>
              <a:t>Gerçek</a:t>
            </a:r>
            <a:r>
              <a:rPr sz="837" dirty="0">
                <a:solidFill>
                  <a:schemeClr val="accent1"/>
                </a:solidFill>
                <a:latin typeface="Poppins"/>
              </a:rPr>
              <a:t> </a:t>
            </a:r>
            <a:r>
              <a:rPr sz="837" dirty="0" err="1">
                <a:solidFill>
                  <a:schemeClr val="accent1"/>
                </a:solidFill>
                <a:latin typeface="Poppins"/>
              </a:rPr>
              <a:t>Zamanlı</a:t>
            </a:r>
            <a:endParaRPr sz="837" dirty="0">
              <a:solidFill>
                <a:schemeClr val="accent1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40E19BBC-4576-ADB0-6378-1BF842F3D24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8CDC44B0-B19A-EA2C-C22E-9AA8EB4D73E7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E7ED1AF8-4120-9C4A-E4A5-C6FC83DC6DE2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79667"/>
            <a:ext cx="2521781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 err="1">
                <a:solidFill>
                  <a:schemeClr val="tx2">
                    <a:lumMod val="50000"/>
                  </a:schemeClr>
                </a:solidFill>
              </a:rPr>
              <a:t>EnoPrice</a:t>
            </a: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 Hakkında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6F2CF0A4-4C28-9146-4AAC-19AA9EE8419F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6333E8C-4AD3-47F9-F081-BB05A514E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977" y="1098111"/>
            <a:ext cx="5794113" cy="4661777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5CC36FAB-ACFE-FE1E-4E9E-CA4B2BC7A162}"/>
              </a:ext>
            </a:extLst>
          </p:cNvPr>
          <p:cNvSpPr txBox="1"/>
          <p:nvPr/>
        </p:nvSpPr>
        <p:spPr>
          <a:xfrm>
            <a:off x="1359286" y="2901463"/>
            <a:ext cx="2267834" cy="10341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D3748"/>
                </a:solidFill>
                <a:latin typeface="Montserrat"/>
              </a:rPr>
              <a:t>Temel</a:t>
            </a:r>
            <a:r>
              <a:rPr sz="2000" b="0" dirty="0">
                <a:solidFill>
                  <a:srgbClr val="E0F2FE"/>
                </a:solidFill>
                <a:latin typeface="Poppins"/>
              </a:rPr>
              <a:t> </a:t>
            </a:r>
            <a:r>
              <a:rPr sz="2000" b="1" dirty="0">
                <a:solidFill>
                  <a:srgbClr val="2D3748"/>
                </a:solidFill>
                <a:latin typeface="Montserrat"/>
              </a:rPr>
              <a:t>Değer</a:t>
            </a:r>
            <a:endParaRPr lang="tr-TR" sz="2000" b="1" dirty="0">
              <a:solidFill>
                <a:srgbClr val="2D3748"/>
              </a:solidFill>
              <a:latin typeface="Montserrat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E0F2FE"/>
                </a:solidFill>
                <a:latin typeface="Poppins"/>
              </a:rPr>
              <a:t>:</a:t>
            </a:r>
            <a:endParaRPr lang="tr-TR" sz="2000" b="0" dirty="0">
              <a:solidFill>
                <a:srgbClr val="E0F2FE"/>
              </a:solidFill>
              <a:latin typeface="Poppins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4A5568"/>
                </a:solidFill>
                <a:latin typeface="Roboto"/>
              </a:rPr>
              <a:t>Akıllı </a:t>
            </a:r>
            <a:r>
              <a:rPr sz="1600" dirty="0" err="1">
                <a:solidFill>
                  <a:srgbClr val="4A5568"/>
                </a:solidFill>
                <a:latin typeface="Roboto"/>
              </a:rPr>
              <a:t>Fiyatlandırma</a:t>
            </a:r>
            <a:r>
              <a:rPr sz="1600" dirty="0">
                <a:solidFill>
                  <a:srgbClr val="4A5568"/>
                </a:solidFill>
                <a:latin typeface="Roboto"/>
              </a:rPr>
              <a:t> </a:t>
            </a:r>
            <a:r>
              <a:rPr sz="1600" dirty="0" err="1">
                <a:solidFill>
                  <a:srgbClr val="4A5568"/>
                </a:solidFill>
                <a:latin typeface="Roboto"/>
              </a:rPr>
              <a:t>ile</a:t>
            </a:r>
            <a:endParaRPr lang="tr-TR" sz="1600" dirty="0">
              <a:solidFill>
                <a:srgbClr val="4A5568"/>
              </a:solidFill>
              <a:latin typeface="Roboto"/>
            </a:endParaRPr>
          </a:p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4A5568"/>
                </a:solidFill>
                <a:latin typeface="Roboto"/>
              </a:rPr>
              <a:t>Kar </a:t>
            </a:r>
            <a:r>
              <a:rPr sz="1600" dirty="0" err="1">
                <a:solidFill>
                  <a:srgbClr val="4A5568"/>
                </a:solidFill>
                <a:latin typeface="Roboto"/>
              </a:rPr>
              <a:t>Maksimizasyonu</a:t>
            </a:r>
            <a:endParaRPr sz="16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E5BEC5BB-171D-53FA-0B49-89733CB9DD56}"/>
              </a:ext>
            </a:extLst>
          </p:cNvPr>
          <p:cNvSpPr txBox="1"/>
          <p:nvPr/>
        </p:nvSpPr>
        <p:spPr>
          <a:xfrm>
            <a:off x="5864532" y="1168400"/>
            <a:ext cx="338900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Montserrat"/>
              </a:rPr>
              <a:t>Gerçek</a:t>
            </a:r>
            <a:r>
              <a:rPr sz="1600" b="1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Zamanlı</a:t>
            </a:r>
            <a:r>
              <a:rPr sz="1600" b="1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Optimizasyon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80F0E8E7-8DE3-2FC9-24D2-F2F634C594DA}"/>
              </a:ext>
            </a:extLst>
          </p:cNvPr>
          <p:cNvSpPr txBox="1"/>
          <p:nvPr/>
        </p:nvSpPr>
        <p:spPr>
          <a:xfrm>
            <a:off x="5864532" y="1576048"/>
            <a:ext cx="3820242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Roboto"/>
              </a:rPr>
              <a:t>Geçmiş satış</a:t>
            </a:r>
            <a:r>
              <a:rPr sz="1196" b="0" dirty="0">
                <a:solidFill>
                  <a:srgbClr val="BFDBFE"/>
                </a:solidFill>
                <a:latin typeface="Poppins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dinamikleri</a:t>
            </a:r>
            <a:r>
              <a:rPr sz="1196" b="0" dirty="0">
                <a:solidFill>
                  <a:srgbClr val="BFDBFE"/>
                </a:solidFill>
                <a:latin typeface="Poppins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lang="tr-TR" sz="1200" dirty="0">
                <a:solidFill>
                  <a:srgbClr val="4A5568"/>
                </a:solidFill>
                <a:latin typeface="Roboto"/>
              </a:rPr>
              <a:t>rakip fiyatlara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göre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fiyatları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otomatik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olarak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ayarla</a:t>
            </a:r>
            <a:r>
              <a:rPr lang="tr-TR" sz="1200" dirty="0" err="1">
                <a:solidFill>
                  <a:srgbClr val="4A5568"/>
                </a:solidFill>
                <a:latin typeface="Roboto"/>
              </a:rPr>
              <a:t>ma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F18A3413-F56E-186B-D1FA-ED3A2C19D1B1}"/>
              </a:ext>
            </a:extLst>
          </p:cNvPr>
          <p:cNvSpPr txBox="1"/>
          <p:nvPr/>
        </p:nvSpPr>
        <p:spPr>
          <a:xfrm>
            <a:off x="6774388" y="2995443"/>
            <a:ext cx="2615419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>
                <a:solidFill>
                  <a:srgbClr val="2D3748"/>
                </a:solidFill>
                <a:latin typeface="Montserrat"/>
              </a:rPr>
              <a:t>Veri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Odaklı</a:t>
            </a:r>
            <a:r>
              <a:rPr sz="1600" b="1" dirty="0">
                <a:solidFill>
                  <a:srgbClr val="2D3748"/>
                </a:solidFill>
                <a:latin typeface="Montserrat"/>
              </a:rPr>
              <a:t> Zeka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8169C5E2-EEDD-14C2-F7AB-CB7FD01FE8DB}"/>
              </a:ext>
            </a:extLst>
          </p:cNvPr>
          <p:cNvSpPr txBox="1"/>
          <p:nvPr/>
        </p:nvSpPr>
        <p:spPr>
          <a:xfrm>
            <a:off x="6774390" y="3325464"/>
            <a:ext cx="3539652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Roboto"/>
              </a:rPr>
              <a:t>AI</a:t>
            </a:r>
            <a:r>
              <a:rPr sz="1196" b="0" dirty="0">
                <a:solidFill>
                  <a:srgbClr val="BFDBFE"/>
                </a:solidFill>
                <a:latin typeface="Poppins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makine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öğrenmesi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ile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satış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verilerini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analiz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ederek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fiyatlandırma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stratejilerini</a:t>
            </a:r>
            <a:r>
              <a:rPr sz="1200" dirty="0">
                <a:solidFill>
                  <a:srgbClr val="4A5568"/>
                </a:solidFill>
                <a:latin typeface="Roboto"/>
              </a:rPr>
              <a:t> optimize et</a:t>
            </a:r>
            <a:r>
              <a:rPr lang="tr-TR" sz="1200" dirty="0">
                <a:solidFill>
                  <a:srgbClr val="4A5568"/>
                </a:solidFill>
                <a:latin typeface="Roboto"/>
              </a:rPr>
              <a:t>me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3D333958-41E1-EE37-02E6-33BF9B184358}"/>
              </a:ext>
            </a:extLst>
          </p:cNvPr>
          <p:cNvSpPr txBox="1"/>
          <p:nvPr/>
        </p:nvSpPr>
        <p:spPr>
          <a:xfrm>
            <a:off x="5864855" y="4772941"/>
            <a:ext cx="256987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Montserrat"/>
              </a:rPr>
              <a:t>Sorunsuz</a:t>
            </a:r>
            <a:r>
              <a:rPr sz="1600" b="1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Entegrasyon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7172B3CA-9005-D3AD-0416-111C12C7ADCA}"/>
              </a:ext>
            </a:extLst>
          </p:cNvPr>
          <p:cNvSpPr txBox="1"/>
          <p:nvPr/>
        </p:nvSpPr>
        <p:spPr>
          <a:xfrm>
            <a:off x="5864856" y="5180589"/>
            <a:ext cx="3820242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Roboto"/>
              </a:rPr>
              <a:t>RESTful API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aracılığıyla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mevcut</a:t>
            </a:r>
            <a:r>
              <a:rPr sz="1200" dirty="0">
                <a:solidFill>
                  <a:srgbClr val="4A5568"/>
                </a:solidFill>
                <a:latin typeface="Roboto"/>
              </a:rPr>
              <a:t> e-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ticaret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platformları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ERP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sistemleriyle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kolayca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entegre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ol</a:t>
            </a:r>
            <a:r>
              <a:rPr lang="tr-TR" sz="1200" dirty="0" err="1">
                <a:solidFill>
                  <a:srgbClr val="4A5568"/>
                </a:solidFill>
                <a:latin typeface="Roboto"/>
              </a:rPr>
              <a:t>ma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pic>
        <p:nvPicPr>
          <p:cNvPr id="24" name="Picture 6" descr="image.png">
            <a:extLst>
              <a:ext uri="{FF2B5EF4-FFF2-40B4-BE49-F238E27FC236}">
                <a16:creationId xmlns:a16="http://schemas.microsoft.com/office/drawing/2014/main" id="{11D1A3A5-4F8C-15EE-6F52-56672C648B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791" y="1510032"/>
            <a:ext cx="471859" cy="276614"/>
          </a:xfrm>
          <a:prstGeom prst="rect">
            <a:avLst/>
          </a:prstGeom>
        </p:spPr>
      </p:pic>
      <p:pic>
        <p:nvPicPr>
          <p:cNvPr id="25" name="Picture 11" descr="image.png">
            <a:extLst>
              <a:ext uri="{FF2B5EF4-FFF2-40B4-BE49-F238E27FC236}">
                <a16:creationId xmlns:a16="http://schemas.microsoft.com/office/drawing/2014/main" id="{CDB137CD-68D9-DD51-F08A-0FF9E51A6FB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25000"/>
          </a:blip>
          <a:stretch>
            <a:fillRect/>
          </a:stretch>
        </p:blipFill>
        <p:spPr>
          <a:xfrm>
            <a:off x="5930997" y="3247711"/>
            <a:ext cx="460794" cy="341631"/>
          </a:xfrm>
          <a:prstGeom prst="rect">
            <a:avLst/>
          </a:prstGeom>
        </p:spPr>
      </p:pic>
      <p:pic>
        <p:nvPicPr>
          <p:cNvPr id="26" name="Picture 16" descr="image.png">
            <a:extLst>
              <a:ext uri="{FF2B5EF4-FFF2-40B4-BE49-F238E27FC236}">
                <a16:creationId xmlns:a16="http://schemas.microsoft.com/office/drawing/2014/main" id="{04CA125C-3DE0-71B4-0916-F661877928C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50000"/>
          </a:blip>
          <a:stretch>
            <a:fillRect/>
          </a:stretch>
        </p:blipFill>
        <p:spPr>
          <a:xfrm>
            <a:off x="4950791" y="4979230"/>
            <a:ext cx="471859" cy="402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D968-8DA4-287D-CFA3-E29A8423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A437DBF8-7EA9-DD73-AEAC-986BD344B7E8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C0074307-EB0E-EB92-5FA2-A3D2F8B6FDCC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FD263E5C-C535-5BB8-EA63-DEF2333DB33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E102A-BF7B-636F-B590-27F3BC9EAE50}"/>
              </a:ext>
            </a:extLst>
          </p:cNvPr>
          <p:cNvSpPr txBox="1"/>
          <p:nvPr/>
        </p:nvSpPr>
        <p:spPr>
          <a:xfrm>
            <a:off x="666733" y="379667"/>
            <a:ext cx="862672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BEFBE416-1E0D-A4B1-6B28-102CC33EEEAA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C26CB9E6-A462-818B-F29A-B7075C43BA3C}"/>
              </a:ext>
            </a:extLst>
          </p:cNvPr>
          <p:cNvSpPr/>
          <p:nvPr/>
        </p:nvSpPr>
        <p:spPr>
          <a:xfrm>
            <a:off x="901977" y="1494556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1BF20735-F715-F106-5A7F-C382CEE4A595}"/>
              </a:ext>
            </a:extLst>
          </p:cNvPr>
          <p:cNvSpPr/>
          <p:nvPr/>
        </p:nvSpPr>
        <p:spPr>
          <a:xfrm>
            <a:off x="901027" y="4751001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0188A2B8-8E9C-DABD-D445-34BA0B6A3F13}"/>
              </a:ext>
            </a:extLst>
          </p:cNvPr>
          <p:cNvSpPr/>
          <p:nvPr/>
        </p:nvSpPr>
        <p:spPr>
          <a:xfrm>
            <a:off x="7768441" y="1507888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27FBA63C-1189-7F97-0689-33CCD0FF2375}"/>
              </a:ext>
            </a:extLst>
          </p:cNvPr>
          <p:cNvSpPr/>
          <p:nvPr/>
        </p:nvSpPr>
        <p:spPr>
          <a:xfrm>
            <a:off x="7768441" y="4621818"/>
            <a:ext cx="2828961" cy="1341310"/>
          </a:xfrm>
          <a:prstGeom prst="roundRect">
            <a:avLst/>
          </a:prstGeom>
          <a:solidFill>
            <a:srgbClr val="F0F4FF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0" name="Düz Ok Bağlayıcısı 19">
            <a:extLst>
              <a:ext uri="{FF2B5EF4-FFF2-40B4-BE49-F238E27FC236}">
                <a16:creationId xmlns:a16="http://schemas.microsoft.com/office/drawing/2014/main" id="{D41E00A2-467B-C9E9-BFBF-BFF601A3CE2E}"/>
              </a:ext>
            </a:extLst>
          </p:cNvPr>
          <p:cNvCxnSpPr>
            <a:cxnSpLocks/>
          </p:cNvCxnSpPr>
          <p:nvPr/>
        </p:nvCxnSpPr>
        <p:spPr>
          <a:xfrm flipH="1" flipV="1">
            <a:off x="3848194" y="2178228"/>
            <a:ext cx="808872" cy="579279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>
            <a:extLst>
              <a:ext uri="{FF2B5EF4-FFF2-40B4-BE49-F238E27FC236}">
                <a16:creationId xmlns:a16="http://schemas.microsoft.com/office/drawing/2014/main" id="{33AD6D01-F65F-5AC1-1715-CE7E6EF155A1}"/>
              </a:ext>
            </a:extLst>
          </p:cNvPr>
          <p:cNvCxnSpPr>
            <a:cxnSpLocks/>
          </p:cNvCxnSpPr>
          <p:nvPr/>
        </p:nvCxnSpPr>
        <p:spPr>
          <a:xfrm flipH="1">
            <a:off x="3828005" y="4791485"/>
            <a:ext cx="829061" cy="542546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>
            <a:extLst>
              <a:ext uri="{FF2B5EF4-FFF2-40B4-BE49-F238E27FC236}">
                <a16:creationId xmlns:a16="http://schemas.microsoft.com/office/drawing/2014/main" id="{4CCEB1F9-A9DC-644B-2DAB-5853E7DDAE55}"/>
              </a:ext>
            </a:extLst>
          </p:cNvPr>
          <p:cNvCxnSpPr>
            <a:cxnSpLocks/>
          </p:cNvCxnSpPr>
          <p:nvPr/>
        </p:nvCxnSpPr>
        <p:spPr>
          <a:xfrm flipV="1">
            <a:off x="6816441" y="2093462"/>
            <a:ext cx="797259" cy="592733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>
            <a:extLst>
              <a:ext uri="{FF2B5EF4-FFF2-40B4-BE49-F238E27FC236}">
                <a16:creationId xmlns:a16="http://schemas.microsoft.com/office/drawing/2014/main" id="{3D67FED6-591F-EE12-0DF3-A23D05B3BC92}"/>
              </a:ext>
            </a:extLst>
          </p:cNvPr>
          <p:cNvCxnSpPr>
            <a:cxnSpLocks/>
          </p:cNvCxnSpPr>
          <p:nvPr/>
        </p:nvCxnSpPr>
        <p:spPr>
          <a:xfrm>
            <a:off x="6935964" y="4695689"/>
            <a:ext cx="717269" cy="713137"/>
          </a:xfrm>
          <a:prstGeom prst="straightConnector1">
            <a:avLst/>
          </a:prstGeom>
          <a:ln w="25400" cmpd="dbl">
            <a:solidFill>
              <a:schemeClr val="accent1">
                <a:lumMod val="50000"/>
              </a:schemeClr>
            </a:solidFill>
            <a:prstDash val="dash"/>
            <a:bevel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683E835-D2CC-5AB6-D76C-584529C26D2C}"/>
              </a:ext>
            </a:extLst>
          </p:cNvPr>
          <p:cNvSpPr/>
          <p:nvPr/>
        </p:nvSpPr>
        <p:spPr>
          <a:xfrm>
            <a:off x="4287848" y="2388917"/>
            <a:ext cx="2778289" cy="2774373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2473F5C-7C6E-0661-09B4-7F5886BC4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253" y="3147141"/>
            <a:ext cx="2385306" cy="1572010"/>
          </a:xfrm>
          <a:prstGeom prst="rect">
            <a:avLst/>
          </a:prstGeom>
        </p:spPr>
      </p:pic>
      <p:sp>
        <p:nvSpPr>
          <p:cNvPr id="29" name="Metin kutusu 28">
            <a:extLst>
              <a:ext uri="{FF2B5EF4-FFF2-40B4-BE49-F238E27FC236}">
                <a16:creationId xmlns:a16="http://schemas.microsoft.com/office/drawing/2014/main" id="{2F149D79-3AB0-4231-55B1-839F8610A984}"/>
              </a:ext>
            </a:extLst>
          </p:cNvPr>
          <p:cNvSpPr txBox="1"/>
          <p:nvPr/>
        </p:nvSpPr>
        <p:spPr>
          <a:xfrm>
            <a:off x="1129832" y="1746947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Gerçek Zamanlı Fiyatlandırma</a:t>
            </a:r>
          </a:p>
        </p:txBody>
      </p:sp>
      <p:sp>
        <p:nvSpPr>
          <p:cNvPr id="31" name="Metin kutusu 30">
            <a:extLst>
              <a:ext uri="{FF2B5EF4-FFF2-40B4-BE49-F238E27FC236}">
                <a16:creationId xmlns:a16="http://schemas.microsoft.com/office/drawing/2014/main" id="{E8CE70CB-0EC2-FFFD-2F2B-D58B47AE7AE1}"/>
              </a:ext>
            </a:extLst>
          </p:cNvPr>
          <p:cNvSpPr txBox="1"/>
          <p:nvPr/>
        </p:nvSpPr>
        <p:spPr>
          <a:xfrm>
            <a:off x="1137439" y="2059964"/>
            <a:ext cx="2400324" cy="53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Ürün fiyatlarını otomatik olarak anında belirleme</a:t>
            </a: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3F32F451-FF6D-F520-BC4C-CF8B908D9903}"/>
              </a:ext>
            </a:extLst>
          </p:cNvPr>
          <p:cNvSpPr txBox="1"/>
          <p:nvPr/>
        </p:nvSpPr>
        <p:spPr>
          <a:xfrm>
            <a:off x="7953207" y="1732095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Operasyonel Verimlilik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2F0521A0-9932-367A-1E5C-80C35E849389}"/>
              </a:ext>
            </a:extLst>
          </p:cNvPr>
          <p:cNvSpPr txBox="1"/>
          <p:nvPr/>
        </p:nvSpPr>
        <p:spPr>
          <a:xfrm>
            <a:off x="7960814" y="2045112"/>
            <a:ext cx="2400324" cy="53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Manuel fiyatlandırma süreçlerini ortadan kaldırma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94ECA225-8237-3D82-B9B4-176705863522}"/>
              </a:ext>
            </a:extLst>
          </p:cNvPr>
          <p:cNvSpPr txBox="1"/>
          <p:nvPr/>
        </p:nvSpPr>
        <p:spPr>
          <a:xfrm>
            <a:off x="1235011" y="4984570"/>
            <a:ext cx="158120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400" b="1" dirty="0">
                <a:solidFill>
                  <a:srgbClr val="2D3748"/>
                </a:solidFill>
                <a:latin typeface="+mj-lt"/>
              </a:rPr>
              <a:t>Akıllı </a:t>
            </a:r>
            <a:r>
              <a:rPr sz="1400" b="1" dirty="0" err="1">
                <a:solidFill>
                  <a:srgbClr val="2D3748"/>
                </a:solidFill>
                <a:latin typeface="+mj-lt"/>
              </a:rPr>
              <a:t>Optimizasyon</a:t>
            </a:r>
            <a:endParaRPr sz="14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A3F71718-0294-2289-EE93-2FA482195B7F}"/>
              </a:ext>
            </a:extLst>
          </p:cNvPr>
          <p:cNvSpPr txBox="1"/>
          <p:nvPr/>
        </p:nvSpPr>
        <p:spPr>
          <a:xfrm>
            <a:off x="1235011" y="5297721"/>
            <a:ext cx="1876357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+mj-lt"/>
              </a:rPr>
              <a:t>Stok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ve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piyasa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faktörlerine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göre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fiyatları</a:t>
            </a:r>
            <a:r>
              <a:rPr sz="1200" dirty="0">
                <a:solidFill>
                  <a:srgbClr val="4A5568"/>
                </a:solidFill>
                <a:latin typeface="+mj-lt"/>
              </a:rPr>
              <a:t> optimize et</a:t>
            </a:r>
            <a:r>
              <a:rPr lang="tr-TR" sz="1200" dirty="0">
                <a:solidFill>
                  <a:srgbClr val="4A5568"/>
                </a:solidFill>
                <a:latin typeface="+mj-lt"/>
              </a:rPr>
              <a:t>me</a:t>
            </a:r>
            <a:endParaRPr sz="1200" dirty="0">
              <a:solidFill>
                <a:srgbClr val="4A5568"/>
              </a:solidFill>
              <a:latin typeface="+mj-lt"/>
            </a:endParaRP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1403403-552B-808C-48F6-DB2FE1A91041}"/>
              </a:ext>
            </a:extLst>
          </p:cNvPr>
          <p:cNvSpPr txBox="1"/>
          <p:nvPr/>
        </p:nvSpPr>
        <p:spPr>
          <a:xfrm>
            <a:off x="8024248" y="4876512"/>
            <a:ext cx="167270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400" b="1" dirty="0">
                <a:solidFill>
                  <a:srgbClr val="2D3748"/>
                </a:solidFill>
                <a:latin typeface="+mj-lt"/>
              </a:rPr>
              <a:t>Kar </a:t>
            </a:r>
            <a:r>
              <a:rPr sz="1400" b="1" dirty="0" err="1">
                <a:solidFill>
                  <a:srgbClr val="2D3748"/>
                </a:solidFill>
                <a:latin typeface="+mj-lt"/>
              </a:rPr>
              <a:t>Maksimizasyonu</a:t>
            </a:r>
            <a:endParaRPr sz="14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CA205F8A-93D5-9029-F7CB-60F251CD567C}"/>
              </a:ext>
            </a:extLst>
          </p:cNvPr>
          <p:cNvSpPr txBox="1"/>
          <p:nvPr/>
        </p:nvSpPr>
        <p:spPr>
          <a:xfrm>
            <a:off x="8024248" y="5134562"/>
            <a:ext cx="2053771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 err="1">
                <a:solidFill>
                  <a:srgbClr val="4A5568"/>
                </a:solidFill>
                <a:latin typeface="+mj-lt"/>
              </a:rPr>
              <a:t>Dinamik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fiyatlandırma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stratejileri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oluştur</a:t>
            </a:r>
            <a:r>
              <a:rPr lang="tr-TR" sz="1200" dirty="0" err="1">
                <a:solidFill>
                  <a:srgbClr val="4A5568"/>
                </a:solidFill>
                <a:latin typeface="+mj-lt"/>
              </a:rPr>
              <a:t>ma</a:t>
            </a:r>
            <a:endParaRPr sz="1200" dirty="0">
              <a:solidFill>
                <a:srgbClr val="4A5568"/>
              </a:solidFill>
              <a:latin typeface="+mj-lt"/>
            </a:endParaRP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BAA08E38-62AC-BEB4-22C3-5A936AEBD2D1}"/>
              </a:ext>
            </a:extLst>
          </p:cNvPr>
          <p:cNvSpPr txBox="1"/>
          <p:nvPr/>
        </p:nvSpPr>
        <p:spPr>
          <a:xfrm>
            <a:off x="5248908" y="2609741"/>
            <a:ext cx="862672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Amaç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83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1E28-CFB4-3B1A-D349-351920E62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39D14D60-86BB-1147-0DA2-890C40767673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8846E274-D1CF-A3D0-3B03-354E154283EC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AD65D589-D85B-3AEA-F92B-C898490EDBC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C9FC1-1432-115B-EF75-063F19CFF363}"/>
              </a:ext>
            </a:extLst>
          </p:cNvPr>
          <p:cNvSpPr txBox="1"/>
          <p:nvPr/>
        </p:nvSpPr>
        <p:spPr>
          <a:xfrm>
            <a:off x="666733" y="379667"/>
            <a:ext cx="1337995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Özellikler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8588DA57-EFC9-E69E-AE31-338303C83C4A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7" name="Grup 6">
            <a:extLst>
              <a:ext uri="{FF2B5EF4-FFF2-40B4-BE49-F238E27FC236}">
                <a16:creationId xmlns:a16="http://schemas.microsoft.com/office/drawing/2014/main" id="{3E362AD7-AE03-F1C1-707A-21DF0D105437}"/>
              </a:ext>
            </a:extLst>
          </p:cNvPr>
          <p:cNvGrpSpPr/>
          <p:nvPr/>
        </p:nvGrpSpPr>
        <p:grpSpPr>
          <a:xfrm>
            <a:off x="3796778" y="1061720"/>
            <a:ext cx="4598444" cy="4526280"/>
            <a:chOff x="4354166" y="1325880"/>
            <a:chExt cx="3483670" cy="34290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85F1394-C922-9D22-4DE2-C47D2E77E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54166" y="1325880"/>
              <a:ext cx="3483670" cy="3429000"/>
            </a:xfrm>
            <a:prstGeom prst="rect">
              <a:avLst/>
            </a:prstGeom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1027C69-3A32-E588-80BD-187D70AFD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32910" y="2897150"/>
              <a:ext cx="1726180" cy="531850"/>
            </a:xfrm>
            <a:prstGeom prst="rect">
              <a:avLst/>
            </a:prstGeom>
          </p:spPr>
        </p:pic>
      </p:grpSp>
      <p:sp>
        <p:nvSpPr>
          <p:cNvPr id="8" name="TextBox 6">
            <a:extLst>
              <a:ext uri="{FF2B5EF4-FFF2-40B4-BE49-F238E27FC236}">
                <a16:creationId xmlns:a16="http://schemas.microsoft.com/office/drawing/2014/main" id="{6BB27E46-4033-C480-494D-A360DC10E684}"/>
              </a:ext>
            </a:extLst>
          </p:cNvPr>
          <p:cNvSpPr txBox="1"/>
          <p:nvPr/>
        </p:nvSpPr>
        <p:spPr>
          <a:xfrm>
            <a:off x="4658779" y="248634"/>
            <a:ext cx="287444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sz="1600" b="1" dirty="0">
                <a:solidFill>
                  <a:srgbClr val="2D3748"/>
                </a:solidFill>
                <a:latin typeface="Montserrat"/>
              </a:rPr>
              <a:t>AI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Destekli</a:t>
            </a:r>
            <a:r>
              <a:rPr sz="1600" b="1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Fiyatlandırma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11D6044B-5190-0E1B-4A33-FE24BB3AFF95}"/>
              </a:ext>
            </a:extLst>
          </p:cNvPr>
          <p:cNvSpPr txBox="1"/>
          <p:nvPr/>
        </p:nvSpPr>
        <p:spPr>
          <a:xfrm>
            <a:off x="4549372" y="639253"/>
            <a:ext cx="3047923" cy="3223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Roboto"/>
              </a:rPr>
              <a:t>Akıllı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fiyat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önerileri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otomatik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güncelleme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AC2C8E29-097F-68EE-D965-B41716D01C2D}"/>
              </a:ext>
            </a:extLst>
          </p:cNvPr>
          <p:cNvSpPr txBox="1"/>
          <p:nvPr/>
        </p:nvSpPr>
        <p:spPr>
          <a:xfrm>
            <a:off x="889640" y="2562132"/>
            <a:ext cx="248972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600" b="1" dirty="0">
                <a:solidFill>
                  <a:srgbClr val="2D3748"/>
                </a:solidFill>
                <a:latin typeface="Montserrat"/>
              </a:rPr>
              <a:t>Gerçek Zamanlı Takip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56B3A3C-37CF-1A2C-4758-5152940B5EC5}"/>
              </a:ext>
            </a:extLst>
          </p:cNvPr>
          <p:cNvSpPr txBox="1"/>
          <p:nvPr/>
        </p:nvSpPr>
        <p:spPr>
          <a:xfrm>
            <a:off x="771002" y="2952751"/>
            <a:ext cx="2643608" cy="32239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Roboto"/>
              </a:rPr>
              <a:t>Rakip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fiyatlarının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izlenmesi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analizi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BAB43CDB-031A-189C-4566-ECF8B08C3035}"/>
              </a:ext>
            </a:extLst>
          </p:cNvPr>
          <p:cNvSpPr txBox="1"/>
          <p:nvPr/>
        </p:nvSpPr>
        <p:spPr>
          <a:xfrm>
            <a:off x="8816991" y="2562132"/>
            <a:ext cx="220438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>
                <a:solidFill>
                  <a:srgbClr val="2D3748"/>
                </a:solidFill>
                <a:latin typeface="Montserrat"/>
              </a:rPr>
              <a:t>Kar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Optimizasyonu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17D42B6-41A2-F2E4-1338-611C77665309}"/>
              </a:ext>
            </a:extLst>
          </p:cNvPr>
          <p:cNvSpPr txBox="1"/>
          <p:nvPr/>
        </p:nvSpPr>
        <p:spPr>
          <a:xfrm>
            <a:off x="8395222" y="2952751"/>
            <a:ext cx="3047923" cy="32239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 err="1">
                <a:solidFill>
                  <a:srgbClr val="4A5568"/>
                </a:solidFill>
                <a:latin typeface="Roboto"/>
              </a:rPr>
              <a:t>Veriye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dayalı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kararlar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ile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maksimum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kâr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2A5ED0E3-9B5F-571C-1A06-7DA45F15FE89}"/>
              </a:ext>
            </a:extLst>
          </p:cNvPr>
          <p:cNvSpPr txBox="1"/>
          <p:nvPr/>
        </p:nvSpPr>
        <p:spPr>
          <a:xfrm>
            <a:off x="1842046" y="5020452"/>
            <a:ext cx="229736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Montserrat"/>
              </a:rPr>
              <a:t>Çoklu</a:t>
            </a:r>
            <a:r>
              <a:rPr sz="1600" b="1" dirty="0">
                <a:solidFill>
                  <a:srgbClr val="2D3748"/>
                </a:solidFill>
                <a:latin typeface="Montserrat"/>
              </a:rPr>
              <a:t> Depo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Desteği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E49B2931-35A8-A852-E3C6-679BF25570F3}"/>
              </a:ext>
            </a:extLst>
          </p:cNvPr>
          <p:cNvSpPr txBox="1"/>
          <p:nvPr/>
        </p:nvSpPr>
        <p:spPr>
          <a:xfrm>
            <a:off x="1513430" y="5411071"/>
            <a:ext cx="2954591" cy="32239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Roboto"/>
              </a:rPr>
              <a:t>Depo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bazlı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fiyatlandırma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stok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yönetimi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EF95B1B9-BFB2-4293-427A-439B0FEA85F1}"/>
              </a:ext>
            </a:extLst>
          </p:cNvPr>
          <p:cNvSpPr txBox="1"/>
          <p:nvPr/>
        </p:nvSpPr>
        <p:spPr>
          <a:xfrm>
            <a:off x="8050990" y="5020452"/>
            <a:ext cx="202965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Montserrat"/>
              </a:rPr>
              <a:t>Esnek</a:t>
            </a:r>
            <a:r>
              <a:rPr sz="1600" b="1" dirty="0">
                <a:solidFill>
                  <a:srgbClr val="2D3748"/>
                </a:solidFill>
                <a:latin typeface="Montserra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Raporlama</a:t>
            </a:r>
            <a:endParaRPr sz="16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7F7E65EA-3A1F-1524-038D-4AC2D8182EBA}"/>
              </a:ext>
            </a:extLst>
          </p:cNvPr>
          <p:cNvSpPr txBox="1"/>
          <p:nvPr/>
        </p:nvSpPr>
        <p:spPr>
          <a:xfrm>
            <a:off x="7533220" y="5411071"/>
            <a:ext cx="3065198" cy="32239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 err="1">
                <a:solidFill>
                  <a:srgbClr val="4A5568"/>
                </a:solidFill>
                <a:latin typeface="Roboto"/>
              </a:rPr>
              <a:t>Kapsamlı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analiz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ve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özelleştirilebilir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raporlar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  <p:pic>
        <p:nvPicPr>
          <p:cNvPr id="33" name="Picture 5" descr="image.png">
            <a:extLst>
              <a:ext uri="{FF2B5EF4-FFF2-40B4-BE49-F238E27FC236}">
                <a16:creationId xmlns:a16="http://schemas.microsoft.com/office/drawing/2014/main" id="{932259B0-CD6F-A49A-2731-1200EC673D9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25000"/>
          </a:blip>
          <a:stretch>
            <a:fillRect/>
          </a:stretch>
        </p:blipFill>
        <p:spPr>
          <a:xfrm>
            <a:off x="5793107" y="1334552"/>
            <a:ext cx="605786" cy="462321"/>
          </a:xfrm>
          <a:prstGeom prst="rect">
            <a:avLst/>
          </a:prstGeom>
        </p:spPr>
      </p:pic>
      <p:pic>
        <p:nvPicPr>
          <p:cNvPr id="34" name="Picture 9" descr="image.png">
            <a:extLst>
              <a:ext uri="{FF2B5EF4-FFF2-40B4-BE49-F238E27FC236}">
                <a16:creationId xmlns:a16="http://schemas.microsoft.com/office/drawing/2014/main" id="{ED441F41-18D7-5A3D-7412-533F420CD72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biLevel thresh="25000"/>
          </a:blip>
          <a:stretch>
            <a:fillRect/>
          </a:stretch>
        </p:blipFill>
        <p:spPr>
          <a:xfrm>
            <a:off x="4013687" y="2598899"/>
            <a:ext cx="593090" cy="409710"/>
          </a:xfrm>
          <a:prstGeom prst="rect">
            <a:avLst/>
          </a:prstGeom>
        </p:spPr>
      </p:pic>
      <p:pic>
        <p:nvPicPr>
          <p:cNvPr id="35" name="Picture 13" descr="image.png">
            <a:extLst>
              <a:ext uri="{FF2B5EF4-FFF2-40B4-BE49-F238E27FC236}">
                <a16:creationId xmlns:a16="http://schemas.microsoft.com/office/drawing/2014/main" id="{CE12B0C4-5C40-C228-AB55-EAC46E307B4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biLevel thresh="50000"/>
          </a:blip>
          <a:stretch>
            <a:fillRect/>
          </a:stretch>
        </p:blipFill>
        <p:spPr>
          <a:xfrm>
            <a:off x="7655318" y="2678839"/>
            <a:ext cx="457188" cy="333876"/>
          </a:xfrm>
          <a:prstGeom prst="rect">
            <a:avLst/>
          </a:prstGeom>
        </p:spPr>
      </p:pic>
      <p:pic>
        <p:nvPicPr>
          <p:cNvPr id="36" name="Picture 17" descr="image.png">
            <a:extLst>
              <a:ext uri="{FF2B5EF4-FFF2-40B4-BE49-F238E27FC236}">
                <a16:creationId xmlns:a16="http://schemas.microsoft.com/office/drawing/2014/main" id="{4AF83D22-8E25-F424-116B-A7746919D18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biLevel thresh="25000"/>
          </a:blip>
          <a:stretch>
            <a:fillRect/>
          </a:stretch>
        </p:blipFill>
        <p:spPr>
          <a:xfrm>
            <a:off x="4690056" y="4709966"/>
            <a:ext cx="400039" cy="310486"/>
          </a:xfrm>
          <a:prstGeom prst="rect">
            <a:avLst/>
          </a:prstGeom>
        </p:spPr>
      </p:pic>
      <p:pic>
        <p:nvPicPr>
          <p:cNvPr id="37" name="Picture 21" descr="image.png">
            <a:extLst>
              <a:ext uri="{FF2B5EF4-FFF2-40B4-BE49-F238E27FC236}">
                <a16:creationId xmlns:a16="http://schemas.microsoft.com/office/drawing/2014/main" id="{FFAAFA9A-E234-5501-2853-CB7A7143A80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  <a:biLevel thresh="50000"/>
          </a:blip>
          <a:stretch>
            <a:fillRect/>
          </a:stretch>
        </p:blipFill>
        <p:spPr>
          <a:xfrm>
            <a:off x="7100301" y="4768104"/>
            <a:ext cx="400039" cy="31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2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9497-DDEE-53F8-19ED-6D15F822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EFA282E0-1928-5021-164F-5CDD3FFC6CE9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055E4BC-E633-4C87-C5DA-8031EC1C25E8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055713DC-EE14-E0CA-9282-9B347AAF2207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E7FA8-BC9C-8E9A-6766-543057CDCE37}"/>
              </a:ext>
            </a:extLst>
          </p:cNvPr>
          <p:cNvSpPr txBox="1"/>
          <p:nvPr/>
        </p:nvSpPr>
        <p:spPr>
          <a:xfrm>
            <a:off x="666733" y="379667"/>
            <a:ext cx="1931234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Teknik Altyapı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231C9B2D-8C42-0499-4028-62B8E491C13B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AA08CEB-3A52-E8A7-50DA-E8404BB95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6813" y="1395123"/>
            <a:ext cx="7718946" cy="4831152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C0368E03-67DA-9E8D-2CD9-912432A2441F}"/>
              </a:ext>
            </a:extLst>
          </p:cNvPr>
          <p:cNvSpPr txBox="1"/>
          <p:nvPr/>
        </p:nvSpPr>
        <p:spPr>
          <a:xfrm>
            <a:off x="2365287" y="1633477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Java Tabanlı Altyapı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6D73A2F-47FA-67FE-FAF9-5D71E504A47F}"/>
              </a:ext>
            </a:extLst>
          </p:cNvPr>
          <p:cNvSpPr txBox="1"/>
          <p:nvPr/>
        </p:nvSpPr>
        <p:spPr>
          <a:xfrm>
            <a:off x="2372894" y="1946494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Modern ve esnek teknoloji temeli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D8385B39-BD28-AE7A-0177-458ED2DAE97F}"/>
              </a:ext>
            </a:extLst>
          </p:cNvPr>
          <p:cNvSpPr txBox="1"/>
          <p:nvPr/>
        </p:nvSpPr>
        <p:spPr>
          <a:xfrm>
            <a:off x="7322932" y="1664564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AI Motoru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5F0A36A-D325-CD6C-2B02-E53534453FCD}"/>
              </a:ext>
            </a:extLst>
          </p:cNvPr>
          <p:cNvSpPr txBox="1"/>
          <p:nvPr/>
        </p:nvSpPr>
        <p:spPr>
          <a:xfrm>
            <a:off x="7914944" y="1977581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Fiyat tahmin ve</a:t>
            </a:r>
          </a:p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optimizasyon</a:t>
            </a:r>
          </a:p>
        </p:txBody>
      </p:sp>
      <p:pic>
        <p:nvPicPr>
          <p:cNvPr id="32" name="Picture 6" descr="image.png">
            <a:extLst>
              <a:ext uri="{FF2B5EF4-FFF2-40B4-BE49-F238E27FC236}">
                <a16:creationId xmlns:a16="http://schemas.microsoft.com/office/drawing/2014/main" id="{6D738156-AB67-3626-48A3-BADB7D1E83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462" y="1867987"/>
            <a:ext cx="781776" cy="422940"/>
          </a:xfrm>
          <a:prstGeom prst="rect">
            <a:avLst/>
          </a:prstGeom>
        </p:spPr>
      </p:pic>
      <p:pic>
        <p:nvPicPr>
          <p:cNvPr id="33" name="Picture 11" descr="image.png">
            <a:extLst>
              <a:ext uri="{FF2B5EF4-FFF2-40B4-BE49-F238E27FC236}">
                <a16:creationId xmlns:a16="http://schemas.microsoft.com/office/drawing/2014/main" id="{8D7C28CD-C241-8D81-EC35-7AC18224380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0783" y="1782336"/>
            <a:ext cx="696864" cy="536942"/>
          </a:xfrm>
          <a:prstGeom prst="rect">
            <a:avLst/>
          </a:prstGeom>
        </p:spPr>
      </p:pic>
      <p:pic>
        <p:nvPicPr>
          <p:cNvPr id="34" name="Picture 16" descr="image.png">
            <a:extLst>
              <a:ext uri="{FF2B5EF4-FFF2-40B4-BE49-F238E27FC236}">
                <a16:creationId xmlns:a16="http://schemas.microsoft.com/office/drawing/2014/main" id="{BC7A6445-800A-E84A-F0EC-3BC84A2B4DB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8737" y="3542107"/>
            <a:ext cx="670311" cy="467032"/>
          </a:xfrm>
          <a:prstGeom prst="rect">
            <a:avLst/>
          </a:prstGeom>
        </p:spPr>
      </p:pic>
      <p:pic>
        <p:nvPicPr>
          <p:cNvPr id="35" name="Picture 21" descr="image.png">
            <a:extLst>
              <a:ext uri="{FF2B5EF4-FFF2-40B4-BE49-F238E27FC236}">
                <a16:creationId xmlns:a16="http://schemas.microsoft.com/office/drawing/2014/main" id="{8CC21FE3-EC15-7D92-932A-E6720072613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40308" y="3588904"/>
            <a:ext cx="567599" cy="400122"/>
          </a:xfrm>
          <a:prstGeom prst="rect">
            <a:avLst/>
          </a:prstGeom>
        </p:spPr>
      </p:pic>
      <p:pic>
        <p:nvPicPr>
          <p:cNvPr id="36" name="Picture 26" descr="image.png">
            <a:extLst>
              <a:ext uri="{FF2B5EF4-FFF2-40B4-BE49-F238E27FC236}">
                <a16:creationId xmlns:a16="http://schemas.microsoft.com/office/drawing/2014/main" id="{93EF0581-E6EA-6D07-C379-C3A7984B046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5112" y="5245604"/>
            <a:ext cx="606710" cy="566940"/>
          </a:xfrm>
          <a:prstGeom prst="rect">
            <a:avLst/>
          </a:prstGeom>
        </p:spPr>
      </p:pic>
      <p:pic>
        <p:nvPicPr>
          <p:cNvPr id="37" name="Picture 31" descr="image.png">
            <a:extLst>
              <a:ext uri="{FF2B5EF4-FFF2-40B4-BE49-F238E27FC236}">
                <a16:creationId xmlns:a16="http://schemas.microsoft.com/office/drawing/2014/main" id="{36E0DB91-DF66-7372-C44B-41EB5485E9E6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79846" y="5275602"/>
            <a:ext cx="574607" cy="536942"/>
          </a:xfrm>
          <a:prstGeom prst="rect">
            <a:avLst/>
          </a:prstGeom>
        </p:spPr>
      </p:pic>
      <p:sp>
        <p:nvSpPr>
          <p:cNvPr id="38" name="Metin kutusu 37">
            <a:extLst>
              <a:ext uri="{FF2B5EF4-FFF2-40B4-BE49-F238E27FC236}">
                <a16:creationId xmlns:a16="http://schemas.microsoft.com/office/drawing/2014/main" id="{511EA2B8-01B9-0397-37FF-8C968238B66D}"/>
              </a:ext>
            </a:extLst>
          </p:cNvPr>
          <p:cNvSpPr txBox="1"/>
          <p:nvPr/>
        </p:nvSpPr>
        <p:spPr>
          <a:xfrm>
            <a:off x="2390222" y="3337968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Gerçek Zamanlı İşlem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28A0A059-8692-016C-DEAF-CCAFEAD1BCC8}"/>
              </a:ext>
            </a:extLst>
          </p:cNvPr>
          <p:cNvSpPr txBox="1"/>
          <p:nvPr/>
        </p:nvSpPr>
        <p:spPr>
          <a:xfrm>
            <a:off x="2397829" y="3650985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Veri işleme ve raporlama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motoru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D437AC5E-E7C6-DB00-FD20-A50903342528}"/>
              </a:ext>
            </a:extLst>
          </p:cNvPr>
          <p:cNvSpPr txBox="1"/>
          <p:nvPr/>
        </p:nvSpPr>
        <p:spPr>
          <a:xfrm>
            <a:off x="7322932" y="3369055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Ölçeklenebilir </a:t>
            </a:r>
            <a:r>
              <a:rPr lang="tr-TR" sz="1400" b="1" dirty="0" err="1">
                <a:solidFill>
                  <a:srgbClr val="2D3748"/>
                </a:solidFill>
                <a:latin typeface="+mj-lt"/>
              </a:rPr>
              <a:t>Veritabanı</a:t>
            </a:r>
            <a:endParaRPr lang="tr-TR" sz="14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831E3A5E-2F27-B701-5A79-AA18A2B6E034}"/>
              </a:ext>
            </a:extLst>
          </p:cNvPr>
          <p:cNvSpPr txBox="1"/>
          <p:nvPr/>
        </p:nvSpPr>
        <p:spPr>
          <a:xfrm>
            <a:off x="7914944" y="3682072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Yüksek performanslı</a:t>
            </a:r>
          </a:p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veri yapısı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4F0799BC-07F5-1928-3CEA-40A986286849}"/>
              </a:ext>
            </a:extLst>
          </p:cNvPr>
          <p:cNvSpPr txBox="1"/>
          <p:nvPr/>
        </p:nvSpPr>
        <p:spPr>
          <a:xfrm>
            <a:off x="7322932" y="5106740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lang="tr-TR" sz="1400" b="1" dirty="0">
                <a:solidFill>
                  <a:srgbClr val="2D3748"/>
                </a:solidFill>
                <a:latin typeface="+mj-lt"/>
              </a:rPr>
              <a:t>Güvenli Yönetim</a:t>
            </a:r>
          </a:p>
        </p:txBody>
      </p:sp>
      <p:sp>
        <p:nvSpPr>
          <p:cNvPr id="47" name="Metin kutusu 46">
            <a:extLst>
              <a:ext uri="{FF2B5EF4-FFF2-40B4-BE49-F238E27FC236}">
                <a16:creationId xmlns:a16="http://schemas.microsoft.com/office/drawing/2014/main" id="{CADC99C1-8C34-0C80-BC1C-916935B97938}"/>
              </a:ext>
            </a:extLst>
          </p:cNvPr>
          <p:cNvSpPr txBox="1"/>
          <p:nvPr/>
        </p:nvSpPr>
        <p:spPr>
          <a:xfrm>
            <a:off x="7914944" y="5419757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Kapsamlı kullanıcı</a:t>
            </a:r>
          </a:p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yetkilendirme</a:t>
            </a:r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F3A72BCA-41C1-AAFC-E2D8-10E4F08C4A42}"/>
              </a:ext>
            </a:extLst>
          </p:cNvPr>
          <p:cNvSpPr txBox="1"/>
          <p:nvPr/>
        </p:nvSpPr>
        <p:spPr>
          <a:xfrm>
            <a:off x="2397829" y="5120792"/>
            <a:ext cx="2400324" cy="312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lang="tr-TR" sz="1400" b="1" dirty="0" err="1">
                <a:solidFill>
                  <a:srgbClr val="2D3748"/>
                </a:solidFill>
                <a:latin typeface="+mj-lt"/>
              </a:rPr>
              <a:t>RESTful</a:t>
            </a:r>
            <a:r>
              <a:rPr lang="tr-TR" sz="1400" b="1" dirty="0">
                <a:solidFill>
                  <a:srgbClr val="2D3748"/>
                </a:solidFill>
                <a:latin typeface="+mj-lt"/>
              </a:rPr>
              <a:t> API</a:t>
            </a:r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91A07C31-B919-96E5-6312-0E0B653BE569}"/>
              </a:ext>
            </a:extLst>
          </p:cNvPr>
          <p:cNvSpPr txBox="1"/>
          <p:nvPr/>
        </p:nvSpPr>
        <p:spPr>
          <a:xfrm>
            <a:off x="2405436" y="5433809"/>
            <a:ext cx="1808312" cy="53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Harici sistemlere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rgbClr val="4A5568"/>
                </a:solidFill>
                <a:latin typeface="+mj-lt"/>
              </a:rPr>
              <a:t>Kolay entegrasyon</a:t>
            </a:r>
          </a:p>
        </p:txBody>
      </p:sp>
    </p:spTree>
    <p:extLst>
      <p:ext uri="{BB962C8B-B14F-4D97-AF65-F5344CB8AC3E}">
        <p14:creationId xmlns:p14="http://schemas.microsoft.com/office/powerpoint/2010/main" val="409574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32C6-16D9-1C9E-2EF0-7EB3060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39193004-2853-F656-DBD1-04603DABE3D4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293F2FFA-5327-D71D-6EE6-F95C272D24CD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31B0236C-436E-5ADF-0727-7B2FF56DC59D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EB481-B7F2-B8D4-49F3-26862D4A85F4}"/>
              </a:ext>
            </a:extLst>
          </p:cNvPr>
          <p:cNvSpPr txBox="1"/>
          <p:nvPr/>
        </p:nvSpPr>
        <p:spPr>
          <a:xfrm>
            <a:off x="666733" y="379667"/>
            <a:ext cx="2532296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İşletme Avantajları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8AA1C811-5DE0-2351-3817-2AD2723D7102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DD6C6D-4872-35FE-3152-4E4E9C28E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031" y="1206278"/>
            <a:ext cx="4487937" cy="4445444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5BB7CBC4-3D23-47D7-2993-A42C586CCAD8}"/>
              </a:ext>
            </a:extLst>
          </p:cNvPr>
          <p:cNvSpPr txBox="1"/>
          <p:nvPr/>
        </p:nvSpPr>
        <p:spPr>
          <a:xfrm>
            <a:off x="2598034" y="1703613"/>
            <a:ext cx="125399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sz="1600" b="1" dirty="0">
                <a:solidFill>
                  <a:srgbClr val="2D3748"/>
                </a:solidFill>
                <a:latin typeface="+mj-lt"/>
              </a:rPr>
              <a:t>Artan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Kârlılık</a:t>
            </a:r>
            <a:endParaRPr sz="1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67862C62-D16D-2526-25D5-2B5591F4892E}"/>
              </a:ext>
            </a:extLst>
          </p:cNvPr>
          <p:cNvSpPr txBox="1"/>
          <p:nvPr/>
        </p:nvSpPr>
        <p:spPr>
          <a:xfrm>
            <a:off x="786241" y="2131216"/>
            <a:ext cx="3065790" cy="55322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+mj-lt"/>
              </a:rPr>
              <a:t>Optimize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fiyatlandırma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stratejileri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kâr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marjlarını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maksimize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eder</a:t>
            </a:r>
            <a:endParaRPr sz="1200" dirty="0">
              <a:solidFill>
                <a:srgbClr val="4A5568"/>
              </a:solidFill>
              <a:latin typeface="+mj-lt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5475AEB9-4EBF-4D68-4B20-25070A807839}"/>
              </a:ext>
            </a:extLst>
          </p:cNvPr>
          <p:cNvSpPr txBox="1"/>
          <p:nvPr/>
        </p:nvSpPr>
        <p:spPr>
          <a:xfrm>
            <a:off x="2267623" y="4215138"/>
            <a:ext cx="158440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+mj-lt"/>
              </a:rPr>
              <a:t>Rekabet</a:t>
            </a:r>
            <a:r>
              <a:rPr sz="1600" b="1" dirty="0">
                <a:solidFill>
                  <a:srgbClr val="2D374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Avantajı</a:t>
            </a:r>
            <a:endParaRPr sz="1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89D44D3B-4E33-BD4E-2611-EB43E9C38A54}"/>
              </a:ext>
            </a:extLst>
          </p:cNvPr>
          <p:cNvSpPr txBox="1"/>
          <p:nvPr/>
        </p:nvSpPr>
        <p:spPr>
          <a:xfrm>
            <a:off x="1739080" y="4623716"/>
            <a:ext cx="2112951" cy="324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 err="1">
                <a:solidFill>
                  <a:srgbClr val="4A5568"/>
                </a:solidFill>
                <a:latin typeface="+mj-lt"/>
              </a:rPr>
              <a:t>Gerçek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zamanlı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pazar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duyarlılığı</a:t>
            </a:r>
            <a:endParaRPr sz="1200" dirty="0">
              <a:solidFill>
                <a:srgbClr val="4A5568"/>
              </a:solidFill>
              <a:latin typeface="+mj-lt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5C2FBD66-DF8B-1623-ACD1-325A5CEC3F2A}"/>
              </a:ext>
            </a:extLst>
          </p:cNvPr>
          <p:cNvSpPr txBox="1"/>
          <p:nvPr/>
        </p:nvSpPr>
        <p:spPr>
          <a:xfrm>
            <a:off x="8339968" y="1874429"/>
            <a:ext cx="206550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+mj-lt"/>
              </a:rPr>
              <a:t>Operasyonel</a:t>
            </a:r>
            <a:r>
              <a:rPr sz="1600" b="1" dirty="0">
                <a:solidFill>
                  <a:srgbClr val="2D374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Verimlilik</a:t>
            </a:r>
            <a:endParaRPr sz="1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09C905F8-18FB-4553-2251-959888697516}"/>
              </a:ext>
            </a:extLst>
          </p:cNvPr>
          <p:cNvSpPr txBox="1"/>
          <p:nvPr/>
        </p:nvSpPr>
        <p:spPr>
          <a:xfrm>
            <a:off x="8339969" y="2167592"/>
            <a:ext cx="1708272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 err="1">
                <a:solidFill>
                  <a:srgbClr val="4A5568"/>
                </a:solidFill>
                <a:latin typeface="+mj-lt"/>
              </a:rPr>
              <a:t>Otomatik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süreçler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manuel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çabayı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azaltır</a:t>
            </a:r>
            <a:endParaRPr sz="1200" dirty="0">
              <a:solidFill>
                <a:srgbClr val="4A5568"/>
              </a:solidFill>
              <a:latin typeface="+mj-lt"/>
            </a:endParaRP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5E517874-7CBD-024D-61F7-922AF49AE4E6}"/>
              </a:ext>
            </a:extLst>
          </p:cNvPr>
          <p:cNvSpPr txBox="1"/>
          <p:nvPr/>
        </p:nvSpPr>
        <p:spPr>
          <a:xfrm>
            <a:off x="8339968" y="4259041"/>
            <a:ext cx="197727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  <a:spcAft>
                <a:spcPts val="520"/>
              </a:spcAft>
            </a:pPr>
            <a:r>
              <a:rPr sz="1600" b="1" dirty="0" err="1">
                <a:solidFill>
                  <a:srgbClr val="2D3748"/>
                </a:solidFill>
                <a:latin typeface="+mj-lt"/>
              </a:rPr>
              <a:t>Veriye</a:t>
            </a:r>
            <a:r>
              <a:rPr sz="1600" b="1" dirty="0">
                <a:solidFill>
                  <a:srgbClr val="2D374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Dayalı</a:t>
            </a:r>
            <a:r>
              <a:rPr sz="1600" b="1" dirty="0">
                <a:solidFill>
                  <a:srgbClr val="2D3748"/>
                </a:solidFill>
                <a:latin typeface="+mj-lt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+mj-lt"/>
              </a:rPr>
              <a:t>Kararlar</a:t>
            </a:r>
            <a:endParaRPr sz="1600" b="1" dirty="0">
              <a:solidFill>
                <a:srgbClr val="2D3748"/>
              </a:solidFill>
              <a:latin typeface="+mj-lt"/>
            </a:endParaRP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5020AE49-0B21-9F80-5D8A-36F86362CDEB}"/>
              </a:ext>
            </a:extLst>
          </p:cNvPr>
          <p:cNvSpPr txBox="1"/>
          <p:nvPr/>
        </p:nvSpPr>
        <p:spPr>
          <a:xfrm>
            <a:off x="8339969" y="4552203"/>
            <a:ext cx="1850512" cy="55540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A5568"/>
                </a:solidFill>
                <a:latin typeface="+mj-lt"/>
              </a:rPr>
              <a:t>AI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destekli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içgörüler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stratejiyi</a:t>
            </a:r>
            <a:r>
              <a:rPr sz="1200" dirty="0">
                <a:solidFill>
                  <a:srgbClr val="4A5568"/>
                </a:solidFill>
                <a:latin typeface="+mj-lt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+mj-lt"/>
              </a:rPr>
              <a:t>yönlendirir</a:t>
            </a:r>
            <a:endParaRPr sz="1200" dirty="0">
              <a:solidFill>
                <a:srgbClr val="4A5568"/>
              </a:solidFill>
              <a:latin typeface="+mj-lt"/>
            </a:endParaRPr>
          </a:p>
        </p:txBody>
      </p:sp>
      <p:pic>
        <p:nvPicPr>
          <p:cNvPr id="18" name="Picture 6" descr="image.png">
            <a:extLst>
              <a:ext uri="{FF2B5EF4-FFF2-40B4-BE49-F238E27FC236}">
                <a16:creationId xmlns:a16="http://schemas.microsoft.com/office/drawing/2014/main" id="{399E2DFB-86FE-E5BC-6D4D-07A09031186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480" y="2042246"/>
            <a:ext cx="680374" cy="365584"/>
          </a:xfrm>
          <a:prstGeom prst="rect">
            <a:avLst/>
          </a:prstGeom>
        </p:spPr>
      </p:pic>
      <p:pic>
        <p:nvPicPr>
          <p:cNvPr id="19" name="Picture 11" descr="image.png">
            <a:extLst>
              <a:ext uri="{FF2B5EF4-FFF2-40B4-BE49-F238E27FC236}">
                <a16:creationId xmlns:a16="http://schemas.microsoft.com/office/drawing/2014/main" id="{CD1345BB-0CEF-81E0-15A4-B383734F33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biLevel thresh="50000"/>
          </a:blip>
          <a:stretch>
            <a:fillRect/>
          </a:stretch>
        </p:blipFill>
        <p:spPr>
          <a:xfrm>
            <a:off x="7011145" y="1958494"/>
            <a:ext cx="711320" cy="493690"/>
          </a:xfrm>
          <a:prstGeom prst="rect">
            <a:avLst/>
          </a:prstGeom>
        </p:spPr>
      </p:pic>
      <p:pic>
        <p:nvPicPr>
          <p:cNvPr id="20" name="Picture 16" descr="image.png">
            <a:extLst>
              <a:ext uri="{FF2B5EF4-FFF2-40B4-BE49-F238E27FC236}">
                <a16:creationId xmlns:a16="http://schemas.microsoft.com/office/drawing/2014/main" id="{D55E18AB-D5FE-4EF9-177A-E8EA43CB6A1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2645" y="4426855"/>
            <a:ext cx="606557" cy="506987"/>
          </a:xfrm>
          <a:prstGeom prst="rect">
            <a:avLst/>
          </a:prstGeom>
          <a:noFill/>
        </p:spPr>
      </p:pic>
      <p:pic>
        <p:nvPicPr>
          <p:cNvPr id="21" name="Picture 21" descr="image.png">
            <a:extLst>
              <a:ext uri="{FF2B5EF4-FFF2-40B4-BE49-F238E27FC236}">
                <a16:creationId xmlns:a16="http://schemas.microsoft.com/office/drawing/2014/main" id="{E362C017-0C99-43DD-DD6F-8E7130CA7A2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biLevel thresh="25000"/>
          </a:blip>
          <a:stretch>
            <a:fillRect/>
          </a:stretch>
        </p:blipFill>
        <p:spPr>
          <a:xfrm>
            <a:off x="7011145" y="4409649"/>
            <a:ext cx="668209" cy="4936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AC0E7C0-24D2-73A2-2A4B-54C7D2B7BB8E}"/>
              </a:ext>
            </a:extLst>
          </p:cNvPr>
          <p:cNvSpPr txBox="1"/>
          <p:nvPr/>
        </p:nvSpPr>
        <p:spPr>
          <a:xfrm>
            <a:off x="3852031" y="5780263"/>
            <a:ext cx="407348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2D3748"/>
                </a:solidFill>
                <a:latin typeface="Montserrat"/>
              </a:rPr>
              <a:t>Ölçülebilir</a:t>
            </a:r>
            <a:r>
              <a:rPr sz="1196" b="0" dirty="0">
                <a:solidFill>
                  <a:srgbClr val="E0F2FE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2D3748"/>
                </a:solidFill>
                <a:latin typeface="Montserrat"/>
              </a:rPr>
              <a:t>Etki</a:t>
            </a:r>
            <a:r>
              <a:rPr sz="1196" b="0" dirty="0">
                <a:solidFill>
                  <a:srgbClr val="E0F2FE"/>
                </a:solidFill>
                <a:latin typeface="Poppins"/>
              </a:rPr>
              <a:t>: </a:t>
            </a:r>
            <a:r>
              <a:rPr sz="1200" dirty="0">
                <a:solidFill>
                  <a:srgbClr val="4A5568"/>
                </a:solidFill>
                <a:latin typeface="Roboto"/>
              </a:rPr>
              <a:t>6-12 ay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içinde</a:t>
            </a:r>
            <a:r>
              <a:rPr sz="1200" dirty="0">
                <a:solidFill>
                  <a:srgbClr val="4A5568"/>
                </a:solidFill>
                <a:latin typeface="Roboto"/>
              </a:rPr>
              <a:t> %15-25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gelir</a:t>
            </a:r>
            <a:r>
              <a:rPr sz="1200" dirty="0">
                <a:solidFill>
                  <a:srgbClr val="4A5568"/>
                </a:solidFill>
                <a:latin typeface="Roboto"/>
              </a:rPr>
              <a:t> </a:t>
            </a:r>
            <a:r>
              <a:rPr sz="1200" dirty="0" err="1">
                <a:solidFill>
                  <a:srgbClr val="4A5568"/>
                </a:solidFill>
                <a:latin typeface="Roboto"/>
              </a:rPr>
              <a:t>artışı</a:t>
            </a:r>
            <a:endParaRPr sz="1200" dirty="0">
              <a:solidFill>
                <a:srgbClr val="4A5568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1384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003C-3A1F-E3BC-AA6B-65C22FD6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kdörtgen: Köşeleri Yuvarlatılmış 23">
            <a:extLst>
              <a:ext uri="{FF2B5EF4-FFF2-40B4-BE49-F238E27FC236}">
                <a16:creationId xmlns:a16="http://schemas.microsoft.com/office/drawing/2014/main" id="{C5DC1ECF-99A6-89CD-4DA9-A3725D840B44}"/>
              </a:ext>
            </a:extLst>
          </p:cNvPr>
          <p:cNvSpPr/>
          <p:nvPr/>
        </p:nvSpPr>
        <p:spPr>
          <a:xfrm>
            <a:off x="3547872" y="5004816"/>
            <a:ext cx="4736592" cy="1024128"/>
          </a:xfrm>
          <a:prstGeom prst="round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2" name="object 3">
            <a:extLst>
              <a:ext uri="{FF2B5EF4-FFF2-40B4-BE49-F238E27FC236}">
                <a16:creationId xmlns:a16="http://schemas.microsoft.com/office/drawing/2014/main" id="{076B6765-67D9-6C80-52E9-AF12345E2EAF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E7B42F3E-77A9-54AD-9DCC-4C0EBED0FAFE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D27BC6D-9D6B-1496-F07F-8B32037E9E78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61E92-6B81-836A-104A-0C220E8A1648}"/>
              </a:ext>
            </a:extLst>
          </p:cNvPr>
          <p:cNvSpPr txBox="1"/>
          <p:nvPr/>
        </p:nvSpPr>
        <p:spPr>
          <a:xfrm>
            <a:off x="666733" y="379667"/>
            <a:ext cx="217841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lang="tr-TR" sz="2392" b="1" dirty="0">
                <a:solidFill>
                  <a:schemeClr val="tx2">
                    <a:lumMod val="50000"/>
                  </a:schemeClr>
                </a:solidFill>
              </a:rPr>
              <a:t>Sonraki Adımlar</a:t>
            </a:r>
            <a:endParaRPr sz="2392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94669479-F315-6B7B-83CE-7A2157D4BF71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grpSp>
        <p:nvGrpSpPr>
          <p:cNvPr id="14" name="Grup 13">
            <a:extLst>
              <a:ext uri="{FF2B5EF4-FFF2-40B4-BE49-F238E27FC236}">
                <a16:creationId xmlns:a16="http://schemas.microsoft.com/office/drawing/2014/main" id="{F9622AA6-3E63-2F19-D891-36FBB03E38FA}"/>
              </a:ext>
            </a:extLst>
          </p:cNvPr>
          <p:cNvGrpSpPr/>
          <p:nvPr/>
        </p:nvGrpSpPr>
        <p:grpSpPr>
          <a:xfrm>
            <a:off x="1359210" y="1998199"/>
            <a:ext cx="9202994" cy="2526710"/>
            <a:chOff x="1457532" y="2260102"/>
            <a:chExt cx="9202994" cy="2526710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F05EFF69-9251-8A50-F825-C3EEDA85C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57532" y="2260102"/>
              <a:ext cx="9202994" cy="179853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3DA96D-46C3-909A-57EF-1DD900173431}"/>
                </a:ext>
              </a:extLst>
            </p:cNvPr>
            <p:cNvSpPr txBox="1"/>
            <p:nvPr/>
          </p:nvSpPr>
          <p:spPr>
            <a:xfrm>
              <a:off x="1539965" y="4217263"/>
              <a:ext cx="1745606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Analiz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Planlama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110EC29A-3601-2DFD-921E-D210C11B5B59}"/>
                </a:ext>
              </a:extLst>
            </p:cNvPr>
            <p:cNvSpPr txBox="1"/>
            <p:nvPr/>
          </p:nvSpPr>
          <p:spPr>
            <a:xfrm>
              <a:off x="3961895" y="4121700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Sistem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Entegrasyonu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3614A6EF-7D1D-3AA1-9223-6E0C85179205}"/>
                </a:ext>
              </a:extLst>
            </p:cNvPr>
            <p:cNvSpPr txBox="1"/>
            <p:nvPr/>
          </p:nvSpPr>
          <p:spPr>
            <a:xfrm>
              <a:off x="6416196" y="4214348"/>
              <a:ext cx="1695407" cy="572464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>
                  <a:solidFill>
                    <a:srgbClr val="4A5568"/>
                  </a:solidFill>
                  <a:latin typeface="+mj-lt"/>
                </a:rPr>
                <a:t>Model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Eğitimi</a:t>
              </a:r>
              <a:endParaRPr lang="tr-TR" sz="1600" b="1" dirty="0">
                <a:solidFill>
                  <a:srgbClr val="4A5568"/>
                </a:solidFill>
                <a:latin typeface="+mj-lt"/>
              </a:endParaRPr>
            </a:p>
            <a:p>
              <a:pPr algn="ctr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ve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Test</a:t>
              </a:r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AAB07589-5EBD-C8B0-6694-7923B6EEEF3B}"/>
                </a:ext>
              </a:extLst>
            </p:cNvPr>
            <p:cNvSpPr txBox="1"/>
            <p:nvPr/>
          </p:nvSpPr>
          <p:spPr>
            <a:xfrm>
              <a:off x="9224109" y="4329764"/>
              <a:ext cx="1201034" cy="341632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Canlıya</a:t>
              </a:r>
              <a:r>
                <a:rPr sz="1600" b="1" dirty="0">
                  <a:solidFill>
                    <a:srgbClr val="4A5568"/>
                  </a:solidFill>
                  <a:latin typeface="+mj-lt"/>
                </a:rPr>
                <a:t> </a:t>
              </a:r>
              <a:r>
                <a:rPr sz="1600" b="1" dirty="0" err="1">
                  <a:solidFill>
                    <a:srgbClr val="4A5568"/>
                  </a:solidFill>
                  <a:latin typeface="+mj-lt"/>
                </a:rPr>
                <a:t>Alı</a:t>
              </a:r>
              <a:r>
                <a:rPr lang="tr-TR" sz="1600" b="1" dirty="0">
                  <a:solidFill>
                    <a:srgbClr val="4A5568"/>
                  </a:solidFill>
                  <a:latin typeface="+mj-lt"/>
                </a:rPr>
                <a:t>m</a:t>
              </a:r>
              <a:endParaRPr sz="1600" b="1" dirty="0">
                <a:solidFill>
                  <a:srgbClr val="4A5568"/>
                </a:solidFill>
                <a:latin typeface="+mj-lt"/>
              </a:endParaRPr>
            </a:p>
          </p:txBody>
        </p:sp>
      </p:grpSp>
      <p:pic>
        <p:nvPicPr>
          <p:cNvPr id="20" name="Picture 20" descr="image.png">
            <a:extLst>
              <a:ext uri="{FF2B5EF4-FFF2-40B4-BE49-F238E27FC236}">
                <a16:creationId xmlns:a16="http://schemas.microsoft.com/office/drawing/2014/main" id="{0B3EFA87-3649-D4BD-7131-8FAD553A79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5996" y="5262226"/>
            <a:ext cx="595888" cy="493482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E45EBCF7-4973-08FB-11EC-4C6CEA9C7016}"/>
              </a:ext>
            </a:extLst>
          </p:cNvPr>
          <p:cNvSpPr txBox="1"/>
          <p:nvPr/>
        </p:nvSpPr>
        <p:spPr>
          <a:xfrm>
            <a:off x="4460008" y="5158470"/>
            <a:ext cx="3448316" cy="36413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2060"/>
                </a:solidFill>
                <a:latin typeface="Montserrat"/>
              </a:rPr>
              <a:t>Yolculuğunuzu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Bugün</a:t>
            </a:r>
            <a:r>
              <a:rPr sz="1435" b="1" dirty="0">
                <a:solidFill>
                  <a:srgbClr val="002060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002060"/>
                </a:solidFill>
                <a:latin typeface="Montserrat"/>
              </a:rPr>
              <a:t>Başlatın</a:t>
            </a:r>
            <a:endParaRPr sz="1600" b="1" dirty="0">
              <a:solidFill>
                <a:srgbClr val="002060"/>
              </a:solidFill>
              <a:latin typeface="Montserrat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E74D1C9-110C-2AF5-4082-5EF7F00602DF}"/>
              </a:ext>
            </a:extLst>
          </p:cNvPr>
          <p:cNvSpPr txBox="1"/>
          <p:nvPr/>
        </p:nvSpPr>
        <p:spPr>
          <a:xfrm>
            <a:off x="4488060" y="5579390"/>
            <a:ext cx="3392211" cy="32239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AI </a:t>
            </a: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destekli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 </a:t>
            </a: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fiyatlandırma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 </a:t>
            </a: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ile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 </a:t>
            </a: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karı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 </a:t>
            </a: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maksimize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 </a:t>
            </a: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/>
              </a:rPr>
              <a:t>edin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Roboto"/>
            </a:endParaRPr>
          </a:p>
        </p:txBody>
      </p:sp>
      <p:pic>
        <p:nvPicPr>
          <p:cNvPr id="1026" name="Picture 2" descr="Seo Generic black fill icon">
            <a:extLst>
              <a:ext uri="{FF2B5EF4-FFF2-40B4-BE49-F238E27FC236}">
                <a16:creationId xmlns:a16="http://schemas.microsoft.com/office/drawing/2014/main" id="{6039FF2F-0A37-1CD0-3472-86DF13D1C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1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707" y="2575560"/>
            <a:ext cx="6477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zzle Basic Straight Filled icon">
            <a:extLst>
              <a:ext uri="{FF2B5EF4-FFF2-40B4-BE49-F238E27FC236}">
                <a16:creationId xmlns:a16="http://schemas.microsoft.com/office/drawing/2014/main" id="{9B87E23B-2AE3-7476-9B73-64ED4E66E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076" y="2504858"/>
            <a:ext cx="718402" cy="71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ecklist Generic Glyph icon">
            <a:extLst>
              <a:ext uri="{FF2B5EF4-FFF2-40B4-BE49-F238E27FC236}">
                <a16:creationId xmlns:a16="http://schemas.microsoft.com/office/drawing/2014/main" id="{9FEC3556-AF44-B307-E3DF-77967A707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148" y="2584285"/>
            <a:ext cx="649135" cy="64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0" descr="image.png">
            <a:extLst>
              <a:ext uri="{FF2B5EF4-FFF2-40B4-BE49-F238E27FC236}">
                <a16:creationId xmlns:a16="http://schemas.microsoft.com/office/drawing/2014/main" id="{75B8418D-1153-0604-9F94-EF2BEDCAD3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99000">
            <a:off x="9140666" y="2427717"/>
            <a:ext cx="1053780" cy="87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5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02CE-D530-9C4E-AE4B-7C104AD0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3">
            <a:extLst>
              <a:ext uri="{FF2B5EF4-FFF2-40B4-BE49-F238E27FC236}">
                <a16:creationId xmlns:a16="http://schemas.microsoft.com/office/drawing/2014/main" id="{55CEED5D-C0D8-C490-1F3B-2F9678528250}"/>
              </a:ext>
            </a:extLst>
          </p:cNvPr>
          <p:cNvSpPr>
            <a:spLocks noChangeAspect="1"/>
          </p:cNvSpPr>
          <p:nvPr/>
        </p:nvSpPr>
        <p:spPr>
          <a:xfrm>
            <a:off x="244769" y="-1438805"/>
            <a:ext cx="1314417" cy="3235678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rgbClr val="B6CAFF">
              <a:alpha val="19999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3">
            <a:extLst>
              <a:ext uri="{FF2B5EF4-FFF2-40B4-BE49-F238E27FC236}">
                <a16:creationId xmlns:a16="http://schemas.microsoft.com/office/drawing/2014/main" id="{25645105-4FF1-2C6C-A7F5-8DA4D77903FB}"/>
              </a:ext>
            </a:extLst>
          </p:cNvPr>
          <p:cNvSpPr/>
          <p:nvPr/>
        </p:nvSpPr>
        <p:spPr>
          <a:xfrm rot="10800000">
            <a:off x="10696639" y="3616424"/>
            <a:ext cx="1314417" cy="3358950"/>
          </a:xfrm>
          <a:custGeom>
            <a:avLst/>
            <a:gdLst/>
            <a:ahLst/>
            <a:cxnLst/>
            <a:rect l="l" t="t" r="r" b="b"/>
            <a:pathLst>
              <a:path w="1755775" h="3842385">
                <a:moveTo>
                  <a:pt x="1755433" y="0"/>
                </a:moveTo>
                <a:lnTo>
                  <a:pt x="0" y="0"/>
                </a:lnTo>
                <a:lnTo>
                  <a:pt x="1" y="2964216"/>
                </a:lnTo>
                <a:lnTo>
                  <a:pt x="1298" y="3012375"/>
                </a:lnTo>
                <a:lnTo>
                  <a:pt x="5150" y="3059855"/>
                </a:lnTo>
                <a:lnTo>
                  <a:pt x="11487" y="3106589"/>
                </a:lnTo>
                <a:lnTo>
                  <a:pt x="20244" y="3152510"/>
                </a:lnTo>
                <a:lnTo>
                  <a:pt x="31353" y="3197552"/>
                </a:lnTo>
                <a:lnTo>
                  <a:pt x="44747" y="3241647"/>
                </a:lnTo>
                <a:lnTo>
                  <a:pt x="60359" y="3284729"/>
                </a:lnTo>
                <a:lnTo>
                  <a:pt x="78122" y="3326730"/>
                </a:lnTo>
                <a:lnTo>
                  <a:pt x="97969" y="3367583"/>
                </a:lnTo>
                <a:lnTo>
                  <a:pt x="119834" y="3407223"/>
                </a:lnTo>
                <a:lnTo>
                  <a:pt x="143650" y="3445581"/>
                </a:lnTo>
                <a:lnTo>
                  <a:pt x="169349" y="3482591"/>
                </a:lnTo>
                <a:lnTo>
                  <a:pt x="196865" y="3518185"/>
                </a:lnTo>
                <a:lnTo>
                  <a:pt x="226130" y="3552298"/>
                </a:lnTo>
                <a:lnTo>
                  <a:pt x="257078" y="3584862"/>
                </a:lnTo>
                <a:lnTo>
                  <a:pt x="289642" y="3615810"/>
                </a:lnTo>
                <a:lnTo>
                  <a:pt x="323755" y="3645075"/>
                </a:lnTo>
                <a:lnTo>
                  <a:pt x="359349" y="3672591"/>
                </a:lnTo>
                <a:lnTo>
                  <a:pt x="396359" y="3698290"/>
                </a:lnTo>
                <a:lnTo>
                  <a:pt x="434717" y="3722105"/>
                </a:lnTo>
                <a:lnTo>
                  <a:pt x="474355" y="3743970"/>
                </a:lnTo>
                <a:lnTo>
                  <a:pt x="515208" y="3763817"/>
                </a:lnTo>
                <a:lnTo>
                  <a:pt x="557209" y="3781580"/>
                </a:lnTo>
                <a:lnTo>
                  <a:pt x="600289" y="3797192"/>
                </a:lnTo>
                <a:lnTo>
                  <a:pt x="644383" y="3810585"/>
                </a:lnTo>
                <a:lnTo>
                  <a:pt x="689424" y="3821694"/>
                </a:lnTo>
                <a:lnTo>
                  <a:pt x="735343" y="3830450"/>
                </a:lnTo>
                <a:lnTo>
                  <a:pt x="782076" y="3836788"/>
                </a:lnTo>
                <a:lnTo>
                  <a:pt x="829554" y="3840639"/>
                </a:lnTo>
                <a:lnTo>
                  <a:pt x="877711" y="3841935"/>
                </a:lnTo>
                <a:lnTo>
                  <a:pt x="925869" y="3840639"/>
                </a:lnTo>
                <a:lnTo>
                  <a:pt x="973348" y="3836788"/>
                </a:lnTo>
                <a:lnTo>
                  <a:pt x="1020081" y="3830450"/>
                </a:lnTo>
                <a:lnTo>
                  <a:pt x="1066002" y="3821694"/>
                </a:lnTo>
                <a:lnTo>
                  <a:pt x="1111043" y="3810585"/>
                </a:lnTo>
                <a:lnTo>
                  <a:pt x="1155138" y="3797192"/>
                </a:lnTo>
                <a:lnTo>
                  <a:pt x="1198219" y="3781580"/>
                </a:lnTo>
                <a:lnTo>
                  <a:pt x="1240220" y="3763817"/>
                </a:lnTo>
                <a:lnTo>
                  <a:pt x="1281074" y="3743970"/>
                </a:lnTo>
                <a:lnTo>
                  <a:pt x="1320713" y="3722105"/>
                </a:lnTo>
                <a:lnTo>
                  <a:pt x="1359071" y="3698290"/>
                </a:lnTo>
                <a:lnTo>
                  <a:pt x="1396081" y="3672591"/>
                </a:lnTo>
                <a:lnTo>
                  <a:pt x="1431676" y="3645075"/>
                </a:lnTo>
                <a:lnTo>
                  <a:pt x="1465789" y="3615810"/>
                </a:lnTo>
                <a:lnTo>
                  <a:pt x="1498353" y="3584862"/>
                </a:lnTo>
                <a:lnTo>
                  <a:pt x="1529301" y="3552298"/>
                </a:lnTo>
                <a:lnTo>
                  <a:pt x="1558567" y="3518185"/>
                </a:lnTo>
                <a:lnTo>
                  <a:pt x="1586083" y="3482591"/>
                </a:lnTo>
                <a:lnTo>
                  <a:pt x="1611782" y="3445581"/>
                </a:lnTo>
                <a:lnTo>
                  <a:pt x="1635598" y="3407223"/>
                </a:lnTo>
                <a:lnTo>
                  <a:pt x="1657463" y="3367583"/>
                </a:lnTo>
                <a:lnTo>
                  <a:pt x="1677310" y="3326730"/>
                </a:lnTo>
                <a:lnTo>
                  <a:pt x="1695074" y="3284729"/>
                </a:lnTo>
                <a:lnTo>
                  <a:pt x="1710686" y="3241647"/>
                </a:lnTo>
                <a:lnTo>
                  <a:pt x="1724080" y="3197552"/>
                </a:lnTo>
                <a:lnTo>
                  <a:pt x="1735188" y="3152510"/>
                </a:lnTo>
                <a:lnTo>
                  <a:pt x="1743945" y="3106589"/>
                </a:lnTo>
                <a:lnTo>
                  <a:pt x="1750283" y="3059855"/>
                </a:lnTo>
                <a:lnTo>
                  <a:pt x="1754134" y="3012375"/>
                </a:lnTo>
                <a:lnTo>
                  <a:pt x="1755434" y="2964216"/>
                </a:lnTo>
                <a:lnTo>
                  <a:pt x="1755433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13998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">
            <a:extLst>
              <a:ext uri="{FF2B5EF4-FFF2-40B4-BE49-F238E27FC236}">
                <a16:creationId xmlns:a16="http://schemas.microsoft.com/office/drawing/2014/main" id="{9982AD5E-2AE3-A003-35C3-5BD389FE99BB}"/>
              </a:ext>
            </a:extLst>
          </p:cNvPr>
          <p:cNvSpPr/>
          <p:nvPr/>
        </p:nvSpPr>
        <p:spPr>
          <a:xfrm>
            <a:off x="107004" y="6230270"/>
            <a:ext cx="11904051" cy="496126"/>
          </a:xfrm>
          <a:custGeom>
            <a:avLst/>
            <a:gdLst/>
            <a:ahLst/>
            <a:cxnLst/>
            <a:rect l="l" t="t" r="r" b="b"/>
            <a:pathLst>
              <a:path w="17444720" h="795020">
                <a:moveTo>
                  <a:pt x="17155708" y="0"/>
                </a:moveTo>
                <a:lnTo>
                  <a:pt x="288965" y="0"/>
                </a:lnTo>
                <a:lnTo>
                  <a:pt x="242091" y="3782"/>
                </a:lnTo>
                <a:lnTo>
                  <a:pt x="197627" y="14732"/>
                </a:lnTo>
                <a:lnTo>
                  <a:pt x="156166" y="32254"/>
                </a:lnTo>
                <a:lnTo>
                  <a:pt x="118303" y="55754"/>
                </a:lnTo>
                <a:lnTo>
                  <a:pt x="84633" y="84637"/>
                </a:lnTo>
                <a:lnTo>
                  <a:pt x="55751" y="118307"/>
                </a:lnTo>
                <a:lnTo>
                  <a:pt x="32252" y="156170"/>
                </a:lnTo>
                <a:lnTo>
                  <a:pt x="14731" y="197631"/>
                </a:lnTo>
                <a:lnTo>
                  <a:pt x="3781" y="242094"/>
                </a:lnTo>
                <a:lnTo>
                  <a:pt x="0" y="288965"/>
                </a:lnTo>
                <a:lnTo>
                  <a:pt x="0" y="505461"/>
                </a:lnTo>
                <a:lnTo>
                  <a:pt x="3781" y="552331"/>
                </a:lnTo>
                <a:lnTo>
                  <a:pt x="14731" y="596794"/>
                </a:lnTo>
                <a:lnTo>
                  <a:pt x="32252" y="638255"/>
                </a:lnTo>
                <a:lnTo>
                  <a:pt x="55751" y="676118"/>
                </a:lnTo>
                <a:lnTo>
                  <a:pt x="84633" y="709788"/>
                </a:lnTo>
                <a:lnTo>
                  <a:pt x="118303" y="738671"/>
                </a:lnTo>
                <a:lnTo>
                  <a:pt x="156166" y="762171"/>
                </a:lnTo>
                <a:lnTo>
                  <a:pt x="197627" y="779694"/>
                </a:lnTo>
                <a:lnTo>
                  <a:pt x="242091" y="790643"/>
                </a:lnTo>
                <a:lnTo>
                  <a:pt x="288965" y="794426"/>
                </a:lnTo>
                <a:lnTo>
                  <a:pt x="17155708" y="794426"/>
                </a:lnTo>
                <a:lnTo>
                  <a:pt x="17202578" y="790643"/>
                </a:lnTo>
                <a:lnTo>
                  <a:pt x="17247041" y="779694"/>
                </a:lnTo>
                <a:lnTo>
                  <a:pt x="17288502" y="762171"/>
                </a:lnTo>
                <a:lnTo>
                  <a:pt x="17326365" y="738671"/>
                </a:lnTo>
                <a:lnTo>
                  <a:pt x="17360035" y="709788"/>
                </a:lnTo>
                <a:lnTo>
                  <a:pt x="17388918" y="676118"/>
                </a:lnTo>
                <a:lnTo>
                  <a:pt x="17412418" y="638255"/>
                </a:lnTo>
                <a:lnTo>
                  <a:pt x="17429940" y="596794"/>
                </a:lnTo>
                <a:lnTo>
                  <a:pt x="17440890" y="552331"/>
                </a:lnTo>
                <a:lnTo>
                  <a:pt x="17444673" y="505461"/>
                </a:lnTo>
                <a:lnTo>
                  <a:pt x="17444673" y="288965"/>
                </a:lnTo>
                <a:lnTo>
                  <a:pt x="17440890" y="242094"/>
                </a:lnTo>
                <a:lnTo>
                  <a:pt x="17429940" y="197631"/>
                </a:lnTo>
                <a:lnTo>
                  <a:pt x="17412418" y="156170"/>
                </a:lnTo>
                <a:lnTo>
                  <a:pt x="17388918" y="118307"/>
                </a:lnTo>
                <a:lnTo>
                  <a:pt x="17360035" y="84637"/>
                </a:lnTo>
                <a:lnTo>
                  <a:pt x="17326365" y="55754"/>
                </a:lnTo>
                <a:lnTo>
                  <a:pt x="17288502" y="32254"/>
                </a:lnTo>
                <a:lnTo>
                  <a:pt x="17247041" y="14732"/>
                </a:lnTo>
                <a:lnTo>
                  <a:pt x="17202578" y="3782"/>
                </a:lnTo>
                <a:lnTo>
                  <a:pt x="17155708" y="0"/>
                </a:lnTo>
                <a:close/>
              </a:path>
            </a:pathLst>
          </a:custGeom>
          <a:solidFill>
            <a:srgbClr val="DCE8FF">
              <a:alpha val="50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A7FBDEDE-B2D3-21D3-2BF3-0E8E17B43E74}"/>
              </a:ext>
            </a:extLst>
          </p:cNvPr>
          <p:cNvSpPr>
            <a:spLocks noChangeAspect="1"/>
          </p:cNvSpPr>
          <p:nvPr/>
        </p:nvSpPr>
        <p:spPr>
          <a:xfrm>
            <a:off x="11014675" y="6418761"/>
            <a:ext cx="680836" cy="121376"/>
          </a:xfrm>
          <a:custGeom>
            <a:avLst/>
            <a:gdLst/>
            <a:ahLst/>
            <a:cxnLst/>
            <a:rect l="l" t="t" r="r" b="b"/>
            <a:pathLst>
              <a:path w="1969770" h="351154">
                <a:moveTo>
                  <a:pt x="235800" y="57454"/>
                </a:moveTo>
                <a:lnTo>
                  <a:pt x="0" y="57454"/>
                </a:lnTo>
                <a:lnTo>
                  <a:pt x="0" y="293255"/>
                </a:lnTo>
                <a:lnTo>
                  <a:pt x="235800" y="293255"/>
                </a:lnTo>
                <a:lnTo>
                  <a:pt x="235800" y="57454"/>
                </a:lnTo>
                <a:close/>
              </a:path>
              <a:path w="1969770" h="351154">
                <a:moveTo>
                  <a:pt x="612825" y="167817"/>
                </a:moveTo>
                <a:lnTo>
                  <a:pt x="609282" y="126669"/>
                </a:lnTo>
                <a:lnTo>
                  <a:pt x="598157" y="87655"/>
                </a:lnTo>
                <a:lnTo>
                  <a:pt x="578739" y="53174"/>
                </a:lnTo>
                <a:lnTo>
                  <a:pt x="550316" y="25603"/>
                </a:lnTo>
                <a:lnTo>
                  <a:pt x="516242" y="9283"/>
                </a:lnTo>
                <a:lnTo>
                  <a:pt x="516242" y="137693"/>
                </a:lnTo>
                <a:lnTo>
                  <a:pt x="392950" y="137693"/>
                </a:lnTo>
                <a:lnTo>
                  <a:pt x="397992" y="115531"/>
                </a:lnTo>
                <a:lnTo>
                  <a:pt x="409727" y="93510"/>
                </a:lnTo>
                <a:lnTo>
                  <a:pt x="429158" y="76619"/>
                </a:lnTo>
                <a:lnTo>
                  <a:pt x="457327" y="69875"/>
                </a:lnTo>
                <a:lnTo>
                  <a:pt x="486765" y="76911"/>
                </a:lnTo>
                <a:lnTo>
                  <a:pt x="504761" y="94272"/>
                </a:lnTo>
                <a:lnTo>
                  <a:pt x="513778" y="116395"/>
                </a:lnTo>
                <a:lnTo>
                  <a:pt x="516128" y="136740"/>
                </a:lnTo>
                <a:lnTo>
                  <a:pt x="516242" y="137693"/>
                </a:lnTo>
                <a:lnTo>
                  <a:pt x="516242" y="9283"/>
                </a:lnTo>
                <a:lnTo>
                  <a:pt x="512140" y="7315"/>
                </a:lnTo>
                <a:lnTo>
                  <a:pt x="463499" y="698"/>
                </a:lnTo>
                <a:lnTo>
                  <a:pt x="410540" y="8039"/>
                </a:lnTo>
                <a:lnTo>
                  <a:pt x="367880" y="28168"/>
                </a:lnTo>
                <a:lnTo>
                  <a:pt x="335241" y="58229"/>
                </a:lnTo>
                <a:lnTo>
                  <a:pt x="312293" y="95377"/>
                </a:lnTo>
                <a:lnTo>
                  <a:pt x="298754" y="136740"/>
                </a:lnTo>
                <a:lnTo>
                  <a:pt x="294309" y="179476"/>
                </a:lnTo>
                <a:lnTo>
                  <a:pt x="299656" y="228498"/>
                </a:lnTo>
                <a:lnTo>
                  <a:pt x="315391" y="270268"/>
                </a:lnTo>
                <a:lnTo>
                  <a:pt x="341058" y="304050"/>
                </a:lnTo>
                <a:lnTo>
                  <a:pt x="376212" y="329095"/>
                </a:lnTo>
                <a:lnTo>
                  <a:pt x="420370" y="344665"/>
                </a:lnTo>
                <a:lnTo>
                  <a:pt x="473087" y="350024"/>
                </a:lnTo>
                <a:lnTo>
                  <a:pt x="506285" y="348729"/>
                </a:lnTo>
                <a:lnTo>
                  <a:pt x="537819" y="344805"/>
                </a:lnTo>
                <a:lnTo>
                  <a:pt x="567296" y="338175"/>
                </a:lnTo>
                <a:lnTo>
                  <a:pt x="594334" y="328790"/>
                </a:lnTo>
                <a:lnTo>
                  <a:pt x="583425" y="272630"/>
                </a:lnTo>
                <a:lnTo>
                  <a:pt x="580631" y="258254"/>
                </a:lnTo>
                <a:lnTo>
                  <a:pt x="559333" y="264541"/>
                </a:lnTo>
                <a:lnTo>
                  <a:pt x="537210" y="269024"/>
                </a:lnTo>
                <a:lnTo>
                  <a:pt x="513676" y="271729"/>
                </a:lnTo>
                <a:lnTo>
                  <a:pt x="488149" y="272630"/>
                </a:lnTo>
                <a:lnTo>
                  <a:pt x="453250" y="268744"/>
                </a:lnTo>
                <a:lnTo>
                  <a:pt x="423684" y="256959"/>
                </a:lnTo>
                <a:lnTo>
                  <a:pt x="402717" y="237083"/>
                </a:lnTo>
                <a:lnTo>
                  <a:pt x="393636" y="208915"/>
                </a:lnTo>
                <a:lnTo>
                  <a:pt x="609396" y="208915"/>
                </a:lnTo>
                <a:lnTo>
                  <a:pt x="610501" y="201828"/>
                </a:lnTo>
                <a:lnTo>
                  <a:pt x="611619" y="192227"/>
                </a:lnTo>
                <a:lnTo>
                  <a:pt x="612482" y="180695"/>
                </a:lnTo>
                <a:lnTo>
                  <a:pt x="612825" y="167817"/>
                </a:lnTo>
                <a:close/>
              </a:path>
              <a:path w="1969770" h="351154">
                <a:moveTo>
                  <a:pt x="960602" y="148628"/>
                </a:moveTo>
                <a:lnTo>
                  <a:pt x="954709" y="95719"/>
                </a:lnTo>
                <a:lnTo>
                  <a:pt x="938136" y="55156"/>
                </a:lnTo>
                <a:lnTo>
                  <a:pt x="912520" y="26581"/>
                </a:lnTo>
                <a:lnTo>
                  <a:pt x="840740" y="4114"/>
                </a:lnTo>
                <a:lnTo>
                  <a:pt x="802805" y="9486"/>
                </a:lnTo>
                <a:lnTo>
                  <a:pt x="773099" y="22948"/>
                </a:lnTo>
                <a:lnTo>
                  <a:pt x="751344" y="40513"/>
                </a:lnTo>
                <a:lnTo>
                  <a:pt x="737298" y="58216"/>
                </a:lnTo>
                <a:lnTo>
                  <a:pt x="735266" y="58216"/>
                </a:lnTo>
                <a:lnTo>
                  <a:pt x="730465" y="11645"/>
                </a:lnTo>
                <a:lnTo>
                  <a:pt x="640054" y="11645"/>
                </a:lnTo>
                <a:lnTo>
                  <a:pt x="641934" y="60706"/>
                </a:lnTo>
                <a:lnTo>
                  <a:pt x="642556" y="88404"/>
                </a:lnTo>
                <a:lnTo>
                  <a:pt x="642797" y="118491"/>
                </a:lnTo>
                <a:lnTo>
                  <a:pt x="642797" y="346595"/>
                </a:lnTo>
                <a:lnTo>
                  <a:pt x="746899" y="346595"/>
                </a:lnTo>
                <a:lnTo>
                  <a:pt x="746899" y="153441"/>
                </a:lnTo>
                <a:lnTo>
                  <a:pt x="747039" y="146291"/>
                </a:lnTo>
                <a:lnTo>
                  <a:pt x="769073" y="100685"/>
                </a:lnTo>
                <a:lnTo>
                  <a:pt x="803757" y="88366"/>
                </a:lnTo>
                <a:lnTo>
                  <a:pt x="827887" y="93637"/>
                </a:lnTo>
                <a:lnTo>
                  <a:pt x="844245" y="108483"/>
                </a:lnTo>
                <a:lnTo>
                  <a:pt x="853541" y="131419"/>
                </a:lnTo>
                <a:lnTo>
                  <a:pt x="856488" y="160972"/>
                </a:lnTo>
                <a:lnTo>
                  <a:pt x="856488" y="346595"/>
                </a:lnTo>
                <a:lnTo>
                  <a:pt x="960602" y="346595"/>
                </a:lnTo>
                <a:lnTo>
                  <a:pt x="960602" y="148628"/>
                </a:lnTo>
                <a:close/>
              </a:path>
              <a:path w="1969770" h="351154">
                <a:moveTo>
                  <a:pt x="1337843" y="171919"/>
                </a:moveTo>
                <a:lnTo>
                  <a:pt x="1332293" y="123990"/>
                </a:lnTo>
                <a:lnTo>
                  <a:pt x="1316304" y="82296"/>
                </a:lnTo>
                <a:lnTo>
                  <a:pt x="1310640" y="74663"/>
                </a:lnTo>
                <a:lnTo>
                  <a:pt x="1290840" y="47955"/>
                </a:lnTo>
                <a:lnTo>
                  <a:pt x="1256868" y="22047"/>
                </a:lnTo>
                <a:lnTo>
                  <a:pt x="1230312" y="11595"/>
                </a:lnTo>
                <a:lnTo>
                  <a:pt x="1230312" y="174663"/>
                </a:lnTo>
                <a:lnTo>
                  <a:pt x="1225804" y="215353"/>
                </a:lnTo>
                <a:lnTo>
                  <a:pt x="1225702" y="216217"/>
                </a:lnTo>
                <a:lnTo>
                  <a:pt x="1212507" y="248208"/>
                </a:lnTo>
                <a:lnTo>
                  <a:pt x="1191590" y="268770"/>
                </a:lnTo>
                <a:lnTo>
                  <a:pt x="1163866" y="276034"/>
                </a:lnTo>
                <a:lnTo>
                  <a:pt x="1134376" y="268401"/>
                </a:lnTo>
                <a:lnTo>
                  <a:pt x="1112926" y="247269"/>
                </a:lnTo>
                <a:lnTo>
                  <a:pt x="1099820" y="215353"/>
                </a:lnTo>
                <a:lnTo>
                  <a:pt x="1095375" y="175348"/>
                </a:lnTo>
                <a:lnTo>
                  <a:pt x="1099146" y="138811"/>
                </a:lnTo>
                <a:lnTo>
                  <a:pt x="1111135" y="106502"/>
                </a:lnTo>
                <a:lnTo>
                  <a:pt x="1132306" y="83515"/>
                </a:lnTo>
                <a:lnTo>
                  <a:pt x="1132154" y="83515"/>
                </a:lnTo>
                <a:lnTo>
                  <a:pt x="1163866" y="74663"/>
                </a:lnTo>
                <a:lnTo>
                  <a:pt x="1194752" y="83515"/>
                </a:lnTo>
                <a:lnTo>
                  <a:pt x="1194333" y="83515"/>
                </a:lnTo>
                <a:lnTo>
                  <a:pt x="1214805" y="106159"/>
                </a:lnTo>
                <a:lnTo>
                  <a:pt x="1226578" y="138226"/>
                </a:lnTo>
                <a:lnTo>
                  <a:pt x="1230312" y="174663"/>
                </a:lnTo>
                <a:lnTo>
                  <a:pt x="1230312" y="11595"/>
                </a:lnTo>
                <a:lnTo>
                  <a:pt x="1215364" y="5702"/>
                </a:lnTo>
                <a:lnTo>
                  <a:pt x="1167295" y="0"/>
                </a:lnTo>
                <a:lnTo>
                  <a:pt x="1115822" y="5702"/>
                </a:lnTo>
                <a:lnTo>
                  <a:pt x="1116241" y="5702"/>
                </a:lnTo>
                <a:lnTo>
                  <a:pt x="1072565" y="22047"/>
                </a:lnTo>
                <a:lnTo>
                  <a:pt x="1036980" y="48209"/>
                </a:lnTo>
                <a:lnTo>
                  <a:pt x="1010310" y="83515"/>
                </a:lnTo>
                <a:lnTo>
                  <a:pt x="993609" y="127076"/>
                </a:lnTo>
                <a:lnTo>
                  <a:pt x="987831" y="178079"/>
                </a:lnTo>
                <a:lnTo>
                  <a:pt x="993787" y="227736"/>
                </a:lnTo>
                <a:lnTo>
                  <a:pt x="993863" y="228447"/>
                </a:lnTo>
                <a:lnTo>
                  <a:pt x="1010996" y="270929"/>
                </a:lnTo>
                <a:lnTo>
                  <a:pt x="1037742" y="304977"/>
                </a:lnTo>
                <a:lnTo>
                  <a:pt x="1072667" y="329996"/>
                </a:lnTo>
                <a:lnTo>
                  <a:pt x="1114285" y="345427"/>
                </a:lnTo>
                <a:lnTo>
                  <a:pt x="1161122" y="350697"/>
                </a:lnTo>
                <a:lnTo>
                  <a:pt x="1205369" y="345960"/>
                </a:lnTo>
                <a:lnTo>
                  <a:pt x="1246822" y="331597"/>
                </a:lnTo>
                <a:lnTo>
                  <a:pt x="1283131" y="307289"/>
                </a:lnTo>
                <a:lnTo>
                  <a:pt x="1309230" y="276034"/>
                </a:lnTo>
                <a:lnTo>
                  <a:pt x="1311973" y="272757"/>
                </a:lnTo>
                <a:lnTo>
                  <a:pt x="1330985" y="227736"/>
                </a:lnTo>
                <a:lnTo>
                  <a:pt x="1337843" y="171919"/>
                </a:lnTo>
                <a:close/>
              </a:path>
              <a:path w="1969770" h="351154">
                <a:moveTo>
                  <a:pt x="1636318" y="13716"/>
                </a:moveTo>
                <a:lnTo>
                  <a:pt x="1618513" y="8216"/>
                </a:lnTo>
                <a:lnTo>
                  <a:pt x="1598650" y="4127"/>
                </a:lnTo>
                <a:lnTo>
                  <a:pt x="1577759" y="1574"/>
                </a:lnTo>
                <a:lnTo>
                  <a:pt x="1556867" y="698"/>
                </a:lnTo>
                <a:lnTo>
                  <a:pt x="1499374" y="7086"/>
                </a:lnTo>
                <a:lnTo>
                  <a:pt x="1451737" y="25107"/>
                </a:lnTo>
                <a:lnTo>
                  <a:pt x="1414221" y="53009"/>
                </a:lnTo>
                <a:lnTo>
                  <a:pt x="1387094" y="89077"/>
                </a:lnTo>
                <a:lnTo>
                  <a:pt x="1370622" y="131584"/>
                </a:lnTo>
                <a:lnTo>
                  <a:pt x="1365072" y="178790"/>
                </a:lnTo>
                <a:lnTo>
                  <a:pt x="1370698" y="227850"/>
                </a:lnTo>
                <a:lnTo>
                  <a:pt x="1387017" y="269760"/>
                </a:lnTo>
                <a:lnTo>
                  <a:pt x="1413192" y="303707"/>
                </a:lnTo>
                <a:lnTo>
                  <a:pt x="1448384" y="328917"/>
                </a:lnTo>
                <a:lnTo>
                  <a:pt x="1491767" y="344614"/>
                </a:lnTo>
                <a:lnTo>
                  <a:pt x="1542478" y="350024"/>
                </a:lnTo>
                <a:lnTo>
                  <a:pt x="1571205" y="348818"/>
                </a:lnTo>
                <a:lnTo>
                  <a:pt x="1618869" y="340487"/>
                </a:lnTo>
                <a:lnTo>
                  <a:pt x="1623314" y="257543"/>
                </a:lnTo>
                <a:lnTo>
                  <a:pt x="1610817" y="262153"/>
                </a:lnTo>
                <a:lnTo>
                  <a:pt x="1596847" y="265595"/>
                </a:lnTo>
                <a:lnTo>
                  <a:pt x="1581200" y="267766"/>
                </a:lnTo>
                <a:lnTo>
                  <a:pt x="1563712" y="268516"/>
                </a:lnTo>
                <a:lnTo>
                  <a:pt x="1527987" y="262420"/>
                </a:lnTo>
                <a:lnTo>
                  <a:pt x="1498815" y="244449"/>
                </a:lnTo>
                <a:lnTo>
                  <a:pt x="1479156" y="215061"/>
                </a:lnTo>
                <a:lnTo>
                  <a:pt x="1471942" y="174675"/>
                </a:lnTo>
                <a:lnTo>
                  <a:pt x="1477962" y="136893"/>
                </a:lnTo>
                <a:lnTo>
                  <a:pt x="1495996" y="107213"/>
                </a:lnTo>
                <a:lnTo>
                  <a:pt x="1524431" y="87795"/>
                </a:lnTo>
                <a:lnTo>
                  <a:pt x="1561655" y="80835"/>
                </a:lnTo>
                <a:lnTo>
                  <a:pt x="1580578" y="81673"/>
                </a:lnTo>
                <a:lnTo>
                  <a:pt x="1596415" y="83921"/>
                </a:lnTo>
                <a:lnTo>
                  <a:pt x="1609432" y="87185"/>
                </a:lnTo>
                <a:lnTo>
                  <a:pt x="1619872" y="91097"/>
                </a:lnTo>
                <a:lnTo>
                  <a:pt x="1636318" y="13716"/>
                </a:lnTo>
                <a:close/>
              </a:path>
              <a:path w="1969770" h="351154">
                <a:moveTo>
                  <a:pt x="1969706" y="343166"/>
                </a:moveTo>
                <a:lnTo>
                  <a:pt x="1967141" y="327291"/>
                </a:lnTo>
                <a:lnTo>
                  <a:pt x="1965604" y="309587"/>
                </a:lnTo>
                <a:lnTo>
                  <a:pt x="1965426" y="307632"/>
                </a:lnTo>
                <a:lnTo>
                  <a:pt x="1964550" y="286537"/>
                </a:lnTo>
                <a:lnTo>
                  <a:pt x="1964512" y="285661"/>
                </a:lnTo>
                <a:lnTo>
                  <a:pt x="1964423" y="277406"/>
                </a:lnTo>
                <a:lnTo>
                  <a:pt x="1964296" y="267550"/>
                </a:lnTo>
                <a:lnTo>
                  <a:pt x="1964245" y="184937"/>
                </a:lnTo>
                <a:lnTo>
                  <a:pt x="1964245" y="145211"/>
                </a:lnTo>
                <a:lnTo>
                  <a:pt x="1959711" y="99593"/>
                </a:lnTo>
                <a:lnTo>
                  <a:pt x="1944801" y="59766"/>
                </a:lnTo>
                <a:lnTo>
                  <a:pt x="1917484" y="28232"/>
                </a:lnTo>
                <a:lnTo>
                  <a:pt x="1875777" y="7467"/>
                </a:lnTo>
                <a:lnTo>
                  <a:pt x="1863547" y="5905"/>
                </a:lnTo>
                <a:lnTo>
                  <a:pt x="1863547" y="184937"/>
                </a:lnTo>
                <a:lnTo>
                  <a:pt x="1863547" y="227406"/>
                </a:lnTo>
                <a:lnTo>
                  <a:pt x="1841373" y="266192"/>
                </a:lnTo>
                <a:lnTo>
                  <a:pt x="1807375" y="277406"/>
                </a:lnTo>
                <a:lnTo>
                  <a:pt x="1791131" y="274955"/>
                </a:lnTo>
                <a:lnTo>
                  <a:pt x="1778101" y="267550"/>
                </a:lnTo>
                <a:lnTo>
                  <a:pt x="1769440" y="255155"/>
                </a:lnTo>
                <a:lnTo>
                  <a:pt x="1766290" y="237680"/>
                </a:lnTo>
                <a:lnTo>
                  <a:pt x="1773783" y="212674"/>
                </a:lnTo>
                <a:lnTo>
                  <a:pt x="1794370" y="196405"/>
                </a:lnTo>
                <a:lnTo>
                  <a:pt x="1825244" y="187591"/>
                </a:lnTo>
                <a:lnTo>
                  <a:pt x="1863547" y="184937"/>
                </a:lnTo>
                <a:lnTo>
                  <a:pt x="1863547" y="5905"/>
                </a:lnTo>
                <a:lnTo>
                  <a:pt x="1817674" y="0"/>
                </a:lnTo>
                <a:lnTo>
                  <a:pt x="1774888" y="2882"/>
                </a:lnTo>
                <a:lnTo>
                  <a:pt x="1738464" y="10185"/>
                </a:lnTo>
                <a:lnTo>
                  <a:pt x="1709102" y="19939"/>
                </a:lnTo>
                <a:lnTo>
                  <a:pt x="1687512" y="30149"/>
                </a:lnTo>
                <a:lnTo>
                  <a:pt x="1706702" y="97256"/>
                </a:lnTo>
                <a:lnTo>
                  <a:pt x="1725574" y="87528"/>
                </a:lnTo>
                <a:lnTo>
                  <a:pt x="1748307" y="79451"/>
                </a:lnTo>
                <a:lnTo>
                  <a:pt x="1773351" y="73952"/>
                </a:lnTo>
                <a:lnTo>
                  <a:pt x="1799158" y="71907"/>
                </a:lnTo>
                <a:lnTo>
                  <a:pt x="1830349" y="76161"/>
                </a:lnTo>
                <a:lnTo>
                  <a:pt x="1848904" y="86893"/>
                </a:lnTo>
                <a:lnTo>
                  <a:pt x="1857819" y="101104"/>
                </a:lnTo>
                <a:lnTo>
                  <a:pt x="1860130" y="115760"/>
                </a:lnTo>
                <a:lnTo>
                  <a:pt x="1860130" y="119875"/>
                </a:lnTo>
                <a:lnTo>
                  <a:pt x="1804416" y="123317"/>
                </a:lnTo>
                <a:lnTo>
                  <a:pt x="1756498" y="133743"/>
                </a:lnTo>
                <a:lnTo>
                  <a:pt x="1717395" y="151282"/>
                </a:lnTo>
                <a:lnTo>
                  <a:pt x="1688185" y="176085"/>
                </a:lnTo>
                <a:lnTo>
                  <a:pt x="1669884" y="208254"/>
                </a:lnTo>
                <a:lnTo>
                  <a:pt x="1663547" y="247954"/>
                </a:lnTo>
                <a:lnTo>
                  <a:pt x="1670926" y="286537"/>
                </a:lnTo>
                <a:lnTo>
                  <a:pt x="1692224" y="319354"/>
                </a:lnTo>
                <a:lnTo>
                  <a:pt x="1726247" y="342163"/>
                </a:lnTo>
                <a:lnTo>
                  <a:pt x="1771764" y="350697"/>
                </a:lnTo>
                <a:lnTo>
                  <a:pt x="1800428" y="348030"/>
                </a:lnTo>
                <a:lnTo>
                  <a:pt x="1826387" y="340169"/>
                </a:lnTo>
                <a:lnTo>
                  <a:pt x="1849018" y="327291"/>
                </a:lnTo>
                <a:lnTo>
                  <a:pt x="1867662" y="309587"/>
                </a:lnTo>
                <a:lnTo>
                  <a:pt x="1869706" y="309587"/>
                </a:lnTo>
                <a:lnTo>
                  <a:pt x="1875878" y="343166"/>
                </a:lnTo>
                <a:lnTo>
                  <a:pt x="1969706" y="343166"/>
                </a:lnTo>
                <a:close/>
              </a:path>
            </a:pathLst>
          </a:custGeom>
          <a:solidFill>
            <a:srgbClr val="0000FC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092" dirty="0"/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242BCF4D-84B8-1731-3905-1E6114295486}"/>
              </a:ext>
            </a:extLst>
          </p:cNvPr>
          <p:cNvSpPr txBox="1"/>
          <p:nvPr/>
        </p:nvSpPr>
        <p:spPr>
          <a:xfrm>
            <a:off x="4099154" y="2992983"/>
            <a:ext cx="3993691" cy="4360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Aft>
                <a:spcPts val="520"/>
              </a:spcAft>
            </a:pPr>
            <a:r>
              <a:rPr lang="tr-TR" sz="4800" b="1" dirty="0">
                <a:solidFill>
                  <a:srgbClr val="2D3748"/>
                </a:solidFill>
                <a:latin typeface="Montserrat"/>
              </a:rPr>
              <a:t>Teşekkürler</a:t>
            </a:r>
            <a:endParaRPr sz="4800" b="1" dirty="0">
              <a:solidFill>
                <a:srgbClr val="2D3748"/>
              </a:solidFill>
              <a:latin typeface="Montserrat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AC210E02-6D6F-9A04-59E1-291CE5064654}"/>
              </a:ext>
            </a:extLst>
          </p:cNvPr>
          <p:cNvSpPr txBox="1"/>
          <p:nvPr/>
        </p:nvSpPr>
        <p:spPr>
          <a:xfrm>
            <a:off x="2153691" y="6314891"/>
            <a:ext cx="1816459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contact@enoca.com</a:t>
            </a: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EF90EA80-29E7-89F3-20C7-90DF502A8E33}"/>
              </a:ext>
            </a:extLst>
          </p:cNvPr>
          <p:cNvSpPr txBox="1"/>
          <p:nvPr/>
        </p:nvSpPr>
        <p:spPr>
          <a:xfrm>
            <a:off x="357430" y="6314891"/>
            <a:ext cx="1478225" cy="3268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820"/>
              </a:lnSpc>
            </a:pPr>
            <a:r>
              <a:rPr lang="tr-TR" sz="1200" b="1" dirty="0">
                <a:solidFill>
                  <a:srgbClr val="4A5568"/>
                </a:solidFill>
                <a:latin typeface="Poppins"/>
              </a:rPr>
              <a:t>www.enoca.com</a:t>
            </a:r>
          </a:p>
        </p:txBody>
      </p:sp>
    </p:spTree>
    <p:extLst>
      <p:ext uri="{BB962C8B-B14F-4D97-AF65-F5344CB8AC3E}">
        <p14:creationId xmlns:p14="http://schemas.microsoft.com/office/powerpoint/2010/main" val="413478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270</Words>
  <Application>Microsoft Office PowerPoint</Application>
  <PresentationFormat>Geniş ekran</PresentationFormat>
  <Paragraphs>76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Montserrat</vt:lpstr>
      <vt:lpstr>Poppins</vt:lpstr>
      <vt:lpstr>Roboto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Yasin  Günaydın</cp:lastModifiedBy>
  <cp:revision>15</cp:revision>
  <dcterms:created xsi:type="dcterms:W3CDTF">2013-01-27T09:14:16Z</dcterms:created>
  <dcterms:modified xsi:type="dcterms:W3CDTF">2026-03-23T14:48:35Z</dcterms:modified>
  <cp:category/>
</cp:coreProperties>
</file>